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11A30"/>
              </a:gs>
              <a:gs pos="55000">
                <a:srgbClr val="0B101F"/>
              </a:gs>
              <a:gs pos="100000">
                <a:srgbClr val="080C16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78440" y="-1325880"/>
            <a:ext cx="3566160" cy="3566160"/>
          </a:xfrm>
          <a:prstGeom prst="ellipse">
            <a:avLst/>
          </a:prstGeom>
          <a:noFill/>
          <a:ln w="12700">
            <a:solidFill>
              <a:srgbClr val="D4AF37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51560" y="5257800"/>
            <a:ext cx="2377440" cy="2377440"/>
          </a:xfrm>
          <a:prstGeom prst="ellipse">
            <a:avLst/>
          </a:prstGeom>
          <a:noFill/>
          <a:ln w="12700">
            <a:solidFill>
              <a:srgbClr val="FFFFFF">
                <a:alpha val="1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57200"/>
            <a:ext cx="201168" cy="10058"/>
          </a:xfrm>
          <a:prstGeom prst="rect">
            <a:avLst/>
          </a:prstGeom>
          <a:solidFill>
            <a:srgbClr val="D4AF37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57200"/>
            <a:ext cx="10058" cy="201168"/>
          </a:xfrm>
          <a:prstGeom prst="rect">
            <a:avLst/>
          </a:prstGeom>
          <a:solidFill>
            <a:srgbClr val="D4AF37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33327" y="457200"/>
            <a:ext cx="201168" cy="10058"/>
          </a:xfrm>
          <a:prstGeom prst="rect">
            <a:avLst/>
          </a:prstGeom>
          <a:solidFill>
            <a:srgbClr val="D4AF37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734495" y="457200"/>
            <a:ext cx="10058" cy="201168"/>
          </a:xfrm>
          <a:prstGeom prst="rect">
            <a:avLst/>
          </a:prstGeom>
          <a:solidFill>
            <a:srgbClr val="D4AF37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6400800"/>
            <a:ext cx="201168" cy="10058"/>
          </a:xfrm>
          <a:prstGeom prst="rect">
            <a:avLst/>
          </a:prstGeom>
          <a:solidFill>
            <a:srgbClr val="D4AF37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6199632"/>
            <a:ext cx="10058" cy="201168"/>
          </a:xfrm>
          <a:prstGeom prst="rect">
            <a:avLst/>
          </a:prstGeom>
          <a:solidFill>
            <a:srgbClr val="D4AF37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533327" y="6400800"/>
            <a:ext cx="201168" cy="10058"/>
          </a:xfrm>
          <a:prstGeom prst="rect">
            <a:avLst/>
          </a:prstGeom>
          <a:solidFill>
            <a:srgbClr val="D4AF37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734495" y="6199632"/>
            <a:ext cx="10058" cy="201168"/>
          </a:xfrm>
          <a:prstGeom prst="rect">
            <a:avLst/>
          </a:prstGeom>
          <a:solidFill>
            <a:srgbClr val="D4AF37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18888" y="777240"/>
            <a:ext cx="2560320" cy="731520"/>
          </a:xfrm>
          <a:prstGeom prst="rect">
            <a:avLst/>
          </a:prstGeom>
          <a:noFill/>
          <a:ln w="12700">
            <a:solidFill>
              <a:srgbClr val="D4AF37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18888" y="777240"/>
            <a:ext cx="25603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spc="60000">
                <a:solidFill>
                  <a:srgbClr val="FFFFFF">
                    <a:alpha val="85000"/>
                  </a:srgbClr>
                </a:solidFill>
                <a:latin typeface="Montserrat"/>
              </a:rPr>
              <a:t>ЛОГОТИП</a:t>
            </a:r>
          </a:p>
        </p:txBody>
      </p:sp>
      <p:sp>
        <p:nvSpPr>
          <p:cNvPr id="15" name="Diamond 14"/>
          <p:cNvSpPr/>
          <p:nvPr/>
        </p:nvSpPr>
        <p:spPr>
          <a:xfrm>
            <a:off x="6054699" y="1988820"/>
            <a:ext cx="82296" cy="82296"/>
          </a:xfrm>
          <a:prstGeom prst="diamond">
            <a:avLst/>
          </a:prstGeom>
          <a:solidFill>
            <a:srgbClr val="D4AF37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98448" y="2231136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spc="50000">
                <a:solidFill>
                  <a:srgbClr val="A0AEC0">
                    <a:alpha val="75000"/>
                  </a:srgbClr>
                </a:solidFill>
                <a:latin typeface="Montserrat"/>
              </a:rPr>
              <a:t>EXCLUSIVE PRE-BOOKING · WINTER 2024–2025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2487168"/>
            <a:ext cx="96012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3600" b="1" spc="30000">
                <a:solidFill>
                  <a:srgbClr val="FFFFFF"/>
                </a:solidFill>
                <a:latin typeface="Montserrat"/>
              </a:rPr>
              <a:t>ПРЕДВАРИТЕЛЬНЫЙ ЗАКАЗ</a:t>
            </a:r>
          </a:p>
          <a:p>
            <a:pPr algn="ctr">
              <a:lnSpc>
                <a:spcPct val="118000"/>
              </a:lnSpc>
            </a:pPr>
            <a:r>
              <a:rPr sz="3600" b="1" spc="30000">
                <a:solidFill>
                  <a:srgbClr val="FFFFFF"/>
                </a:solidFill>
                <a:latin typeface="Montserrat"/>
              </a:rPr>
              <a:t>НОВОГОДНЕГО КОРПОРАТИВА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4059936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spc="12000">
                <a:solidFill>
                  <a:srgbClr val="E5C378"/>
                </a:solidFill>
                <a:latin typeface="Inter"/>
              </a:rPr>
              <a:t>7 причин зафиксировать идеальный финал года уже сейчас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84367" y="4754880"/>
            <a:ext cx="822960" cy="10972"/>
          </a:xfrm>
          <a:prstGeom prst="rect">
            <a:avLst/>
          </a:prstGeom>
          <a:solidFill>
            <a:srgbClr val="D4AF37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252728" y="5614416"/>
            <a:ext cx="9692640" cy="512064"/>
          </a:xfrm>
          <a:prstGeom prst="roundRect">
            <a:avLst>
              <a:gd name="adj" fmla="val 5000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52728" y="5614416"/>
            <a:ext cx="969264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spc="25000">
                <a:solidFill>
                  <a:srgbClr val="A0AEC0">
                    <a:alpha val="90000"/>
                  </a:srgbClr>
                </a:solidFill>
                <a:latin typeface="Inter"/>
              </a:rPr>
              <a:t>МОСКВА   ·   СЕЗОН 2024–2025   ·   ЭКСКЛЮЗИВНОЕ ПРЕДЛОЖЕНИЕ ДЛЯ КОРПОРАТИВНЫХ КЛИЕНТОВ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11A30"/>
              </a:gs>
              <a:gs pos="55000">
                <a:srgbClr val="0B101F"/>
              </a:gs>
              <a:gs pos="100000">
                <a:srgbClr val="080C16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35000">
                <a:solidFill>
                  <a:srgbClr val="A0AEC0">
                    <a:alpha val="70000"/>
                  </a:srgbClr>
                </a:solidFill>
                <a:latin typeface="Montserrat"/>
              </a:rPr>
              <a:t>МОСКВА · СЕЗОН 2024–2025</a:t>
            </a:r>
          </a:p>
        </p:txBody>
      </p:sp>
      <p:sp>
        <p:nvSpPr>
          <p:cNvPr id="4" name="Rectangle 3"/>
          <p:cNvSpPr/>
          <p:nvPr/>
        </p:nvSpPr>
        <p:spPr>
          <a:xfrm>
            <a:off x="9811512" y="365760"/>
            <a:ext cx="1554480" cy="475488"/>
          </a:xfrm>
          <a:prstGeom prst="rect">
            <a:avLst/>
          </a:prstGeom>
          <a:noFill/>
          <a:ln w="9525">
            <a:solidFill>
              <a:srgbClr val="D4AF37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11512" y="365760"/>
            <a:ext cx="15544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spc="40000">
                <a:solidFill>
                  <a:srgbClr val="A0AEC0">
                    <a:alpha val="85000"/>
                  </a:srgbClr>
                </a:solidFill>
                <a:latin typeface="Montserrat"/>
              </a:rPr>
              <a:t>ЛОГОТИП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024128"/>
            <a:ext cx="10545775" cy="10058"/>
          </a:xfrm>
          <a:prstGeom prst="rect">
            <a:avLst/>
          </a:prstGeom>
          <a:solidFill>
            <a:srgbClr val="D4AF37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545775" cy="10058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528816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20000">
                <a:solidFill>
                  <a:srgbClr val="A0AEC0">
                    <a:alpha val="60000"/>
                  </a:srgbClr>
                </a:solidFill>
                <a:latin typeface="Inter"/>
              </a:rPr>
              <a:t>02 /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93992" y="6528816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spc="20000">
                <a:solidFill>
                  <a:srgbClr val="A0AEC0">
                    <a:alpha val="45000"/>
                  </a:srgbClr>
                </a:solidFill>
                <a:latin typeface="Inter"/>
              </a:rPr>
              <a:t>НОВОГОДНИЙ КОРПОРАТИВ · ПРЕДВАРИТЕЛЬНЫЙ ЗАКАЗ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691640"/>
            <a:ext cx="4690872" cy="32918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21500" b="1" spc="0">
                <a:solidFill>
                  <a:srgbClr val="D4AF37">
                    <a:alpha val="8000"/>
                  </a:srgbClr>
                </a:solidFill>
                <a:latin typeface="Montserrat"/>
              </a:rPr>
              <a:t>01</a:t>
            </a:r>
          </a:p>
        </p:txBody>
      </p:sp>
      <p:sp>
        <p:nvSpPr>
          <p:cNvPr id="11" name="Diamond 10"/>
          <p:cNvSpPr/>
          <p:nvPr/>
        </p:nvSpPr>
        <p:spPr>
          <a:xfrm>
            <a:off x="822959" y="1499616"/>
            <a:ext cx="82296" cy="82296"/>
          </a:xfrm>
          <a:prstGeom prst="diamond">
            <a:avLst/>
          </a:prstGeom>
          <a:solidFill>
            <a:srgbClr val="D4AF37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1417320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spc="35000">
                <a:solidFill>
                  <a:srgbClr val="E5C378"/>
                </a:solidFill>
                <a:latin typeface="Montserrat"/>
              </a:rPr>
              <a:t>ПРЕИМУЩЕСТВО 01 · ДОСТУП К ЭКСКЛЮЗИВУ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810512"/>
            <a:ext cx="6400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 spc="5000">
                <a:solidFill>
                  <a:srgbClr val="FFFFFF"/>
                </a:solidFill>
                <a:latin typeface="Montserrat"/>
              </a:rPr>
              <a:t>Лучшие площадки и даты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10128"/>
            <a:ext cx="617220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250" b="0" spc="0">
                <a:solidFill>
                  <a:srgbClr val="A0AEC0"/>
                </a:solidFill>
                <a:latin typeface="Inter"/>
              </a:rPr>
              <a:t>Успеваем перехватить «золотые даты» декабря и бронируем топовые залы столицы, пока весь бизнес стоит в листах ожидания. Никаких компромиссов: ваш корпоратив пройдет в идеальный вечер и на самой эффектной площадке Москвы.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1810512"/>
            <a:ext cx="3913632" cy="3749039"/>
          </a:xfrm>
          <a:prstGeom prst="roundRect">
            <a:avLst>
              <a:gd name="adj" fmla="val 450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26679" y="1828800"/>
            <a:ext cx="3364992" cy="12801"/>
          </a:xfrm>
          <a:prstGeom prst="rect">
            <a:avLst/>
          </a:prstGeom>
          <a:solidFill>
            <a:srgbClr val="D4AF37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2139696"/>
            <a:ext cx="3328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spc="30000">
                <a:solidFill>
                  <a:srgbClr val="A0AEC0">
                    <a:alpha val="80000"/>
                  </a:srgbClr>
                </a:solidFill>
                <a:latin typeface="Montserrat"/>
              </a:rPr>
              <a:t>ДЕКАБРЬ · ЗОЛОТЫЕ ДАТЫ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44968" y="2487168"/>
            <a:ext cx="758952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44968" y="2487168"/>
            <a:ext cx="75895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spc="5000">
                <a:solidFill>
                  <a:srgbClr val="FFFFFF">
                    <a:alpha val="95000"/>
                  </a:srgbClr>
                </a:solidFill>
                <a:latin typeface="Inter"/>
              </a:rPr>
              <a:t>18.12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64270" y="2487168"/>
            <a:ext cx="758952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64270" y="2487168"/>
            <a:ext cx="75895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spc="5000">
                <a:solidFill>
                  <a:srgbClr val="FFFFFF">
                    <a:alpha val="95000"/>
                  </a:srgbClr>
                </a:solidFill>
                <a:latin typeface="Inter"/>
              </a:rPr>
              <a:t>19.12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83572" y="2487168"/>
            <a:ext cx="758952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83572" y="2487168"/>
            <a:ext cx="75895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spc="5000">
                <a:solidFill>
                  <a:srgbClr val="FFFFFF">
                    <a:alpha val="95000"/>
                  </a:srgbClr>
                </a:solidFill>
                <a:latin typeface="Inter"/>
              </a:rPr>
              <a:t>20.12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02875" y="2487168"/>
            <a:ext cx="758952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02875" y="2487168"/>
            <a:ext cx="75895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spc="5000">
                <a:solidFill>
                  <a:srgbClr val="FFFFFF">
                    <a:alpha val="95000"/>
                  </a:srgbClr>
                </a:solidFill>
                <a:latin typeface="Inter"/>
              </a:rPr>
              <a:t>21.12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44968" y="2962656"/>
            <a:ext cx="758952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44968" y="2962656"/>
            <a:ext cx="75895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spc="5000">
                <a:solidFill>
                  <a:srgbClr val="FFFFFF">
                    <a:alpha val="95000"/>
                  </a:srgbClr>
                </a:solidFill>
                <a:latin typeface="Inter"/>
              </a:rPr>
              <a:t>24.12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64270" y="2962656"/>
            <a:ext cx="758952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64270" y="2962656"/>
            <a:ext cx="75895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spc="5000">
                <a:solidFill>
                  <a:srgbClr val="FFFFFF">
                    <a:alpha val="95000"/>
                  </a:srgbClr>
                </a:solidFill>
                <a:latin typeface="Inter"/>
              </a:rPr>
              <a:t>25.12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83572" y="2962656"/>
            <a:ext cx="758952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83572" y="2962656"/>
            <a:ext cx="75895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spc="5000">
                <a:solidFill>
                  <a:srgbClr val="FFFFFF">
                    <a:alpha val="95000"/>
                  </a:srgbClr>
                </a:solidFill>
                <a:latin typeface="Inter"/>
              </a:rPr>
              <a:t>26.12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202875" y="2962656"/>
            <a:ext cx="758952" cy="384048"/>
          </a:xfrm>
          <a:prstGeom prst="roundRect">
            <a:avLst>
              <a:gd name="adj" fmla="val 50000"/>
            </a:avLst>
          </a:prstGeom>
          <a:solidFill>
            <a:srgbClr val="D4AF37">
              <a:alpha val="100000"/>
            </a:srgbClr>
          </a:solidFill>
          <a:ln w="9525">
            <a:solidFill>
              <a:srgbClr val="D4AF37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02875" y="2962656"/>
            <a:ext cx="75895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spc="5000">
                <a:solidFill>
                  <a:srgbClr val="0A0F1D"/>
                </a:solidFill>
                <a:latin typeface="Inter"/>
              </a:rPr>
              <a:t>27.12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44968" y="3602736"/>
            <a:ext cx="33284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spc="0">
                <a:solidFill>
                  <a:srgbClr val="A0AEC0">
                    <a:alpha val="85000"/>
                  </a:srgbClr>
                </a:solidFill>
                <a:latin typeface="Inter"/>
              </a:rPr>
              <a:t>Топовые залы, лофты-иконки и террасы столицы — бронь уже в работе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44968" y="4334256"/>
            <a:ext cx="3328416" cy="676656"/>
          </a:xfrm>
          <a:prstGeom prst="roundRect">
            <a:avLst>
              <a:gd name="adj" fmla="val 10000"/>
            </a:avLst>
          </a:prstGeom>
          <a:solidFill>
            <a:srgbClr val="D4AF37">
              <a:alpha val="7000"/>
            </a:srgbClr>
          </a:solidFill>
          <a:ln w="12700">
            <a:solidFill>
              <a:srgbClr val="D4AF37">
                <a:alpha val="8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44968" y="4334256"/>
            <a:ext cx="3328416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spc="30000">
                <a:solidFill>
                  <a:srgbClr val="E5C378"/>
                </a:solidFill>
                <a:latin typeface="Montserrat"/>
              </a:rPr>
              <a:t>ПРАЙМ-ТАЙМ ДЕКАБРЯ</a:t>
            </a:r>
          </a:p>
          <a:p>
            <a:pPr algn="ctr"/>
            <a:r>
              <a:rPr sz="1100" b="1" spc="45000">
                <a:solidFill>
                  <a:srgbClr val="E5C378"/>
                </a:solidFill>
                <a:latin typeface="Montserrat"/>
              </a:rPr>
              <a:t>ГАРАНТИРОВАН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11A30"/>
              </a:gs>
              <a:gs pos="55000">
                <a:srgbClr val="0B101F"/>
              </a:gs>
              <a:gs pos="100000">
                <a:srgbClr val="080C16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35000">
                <a:solidFill>
                  <a:srgbClr val="A0AEC0">
                    <a:alpha val="70000"/>
                  </a:srgbClr>
                </a:solidFill>
                <a:latin typeface="Montserrat"/>
              </a:rPr>
              <a:t>МОСКВА · СЕЗОН 2024–2025</a:t>
            </a:r>
          </a:p>
        </p:txBody>
      </p:sp>
      <p:sp>
        <p:nvSpPr>
          <p:cNvPr id="4" name="Rectangle 3"/>
          <p:cNvSpPr/>
          <p:nvPr/>
        </p:nvSpPr>
        <p:spPr>
          <a:xfrm>
            <a:off x="9811512" y="365760"/>
            <a:ext cx="1554480" cy="475488"/>
          </a:xfrm>
          <a:prstGeom prst="rect">
            <a:avLst/>
          </a:prstGeom>
          <a:noFill/>
          <a:ln w="9525">
            <a:solidFill>
              <a:srgbClr val="D4AF37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11512" y="365760"/>
            <a:ext cx="15544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spc="40000">
                <a:solidFill>
                  <a:srgbClr val="A0AEC0">
                    <a:alpha val="85000"/>
                  </a:srgbClr>
                </a:solidFill>
                <a:latin typeface="Montserrat"/>
              </a:rPr>
              <a:t>ЛОГОТИП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024128"/>
            <a:ext cx="10545775" cy="10058"/>
          </a:xfrm>
          <a:prstGeom prst="rect">
            <a:avLst/>
          </a:prstGeom>
          <a:solidFill>
            <a:srgbClr val="D4AF37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545775" cy="10058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528816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20000">
                <a:solidFill>
                  <a:srgbClr val="A0AEC0">
                    <a:alpha val="60000"/>
                  </a:srgbClr>
                </a:solidFill>
                <a:latin typeface="Inter"/>
              </a:rPr>
              <a:t>03 /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93992" y="6528816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spc="20000">
                <a:solidFill>
                  <a:srgbClr val="A0AEC0">
                    <a:alpha val="45000"/>
                  </a:srgbClr>
                </a:solidFill>
                <a:latin typeface="Inter"/>
              </a:rPr>
              <a:t>НОВОГОДНИЙ КОРПОРАТИВ · ПРЕДВАРИТЕЛЬНЫЙ ЗАКАЗ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691640"/>
            <a:ext cx="4690872" cy="32918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21500" b="1" spc="0">
                <a:solidFill>
                  <a:srgbClr val="D4AF37">
                    <a:alpha val="8000"/>
                  </a:srgbClr>
                </a:solidFill>
                <a:latin typeface="Montserrat"/>
              </a:rPr>
              <a:t>02</a:t>
            </a:r>
          </a:p>
        </p:txBody>
      </p:sp>
      <p:sp>
        <p:nvSpPr>
          <p:cNvPr id="11" name="Diamond 10"/>
          <p:cNvSpPr/>
          <p:nvPr/>
        </p:nvSpPr>
        <p:spPr>
          <a:xfrm>
            <a:off x="822959" y="1499616"/>
            <a:ext cx="82296" cy="82296"/>
          </a:xfrm>
          <a:prstGeom prst="diamond">
            <a:avLst/>
          </a:prstGeom>
          <a:solidFill>
            <a:srgbClr val="D4AF37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1417320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spc="35000">
                <a:solidFill>
                  <a:srgbClr val="E5C378"/>
                </a:solidFill>
                <a:latin typeface="Montserrat"/>
              </a:rPr>
              <a:t>ПРЕИМУЩЕСТВО 02 · ФИНАНСОВАЯ ОПТИМИЗАЦИЯ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810512"/>
            <a:ext cx="6400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 spc="5000">
                <a:solidFill>
                  <a:srgbClr val="FFFFFF"/>
                </a:solidFill>
                <a:latin typeface="Montserrat"/>
              </a:rPr>
              <a:t>Скидка 10% на любую площадку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10128"/>
            <a:ext cx="617220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250" b="0" spc="0">
                <a:solidFill>
                  <a:srgbClr val="A0AEC0"/>
                </a:solidFill>
                <a:latin typeface="Inter"/>
              </a:rPr>
              <a:t>В разгар декабрьского ценового безумия мы за счет партнерских квот срезаем 10% со стоимости аренды абсолютно любой локации. Вы забираете статусное пространство на пике высокого сезона с очень приятной экономией для бюджета.</a:t>
            </a:r>
          </a:p>
        </p:txBody>
      </p:sp>
      <p:sp>
        <p:nvSpPr>
          <p:cNvPr id="15" name="Diamond 14"/>
          <p:cNvSpPr/>
          <p:nvPr/>
        </p:nvSpPr>
        <p:spPr>
          <a:xfrm>
            <a:off x="9377172" y="1943100"/>
            <a:ext cx="64008" cy="64008"/>
          </a:xfrm>
          <a:prstGeom prst="diamond">
            <a:avLst/>
          </a:prstGeom>
          <a:solidFill>
            <a:srgbClr val="D4AF37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946136" y="2084831"/>
            <a:ext cx="2926080" cy="2926080"/>
          </a:xfrm>
          <a:prstGeom prst="ellipse">
            <a:avLst/>
          </a:prstGeom>
          <a:solidFill>
            <a:srgbClr val="D4AF37">
              <a:alpha val="4000"/>
            </a:srgbClr>
          </a:solidFill>
          <a:ln w="15875">
            <a:solidFill>
              <a:srgbClr val="D4AF37">
                <a:alpha val="8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11896" y="2450592"/>
            <a:ext cx="2194560" cy="2194560"/>
          </a:xfrm>
          <a:prstGeom prst="ellipse">
            <a:avLst/>
          </a:prstGeom>
          <a:noFill/>
          <a:ln w="9525">
            <a:solidFill>
              <a:srgbClr val="D4AF37">
                <a:alpha val="35000"/>
              </a:srgbClr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9016" y="2798064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spc="35000">
                <a:solidFill>
                  <a:srgbClr val="A0AEC0">
                    <a:alpha val="80000"/>
                  </a:srgbClr>
                </a:solidFill>
                <a:latin typeface="Montserrat"/>
              </a:rPr>
              <a:t>ПАРТНЕРСКАЯ КВОТА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37575" y="3072384"/>
            <a:ext cx="2743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400" b="1" spc="0">
                <a:solidFill>
                  <a:srgbClr val="E5C378"/>
                </a:solidFill>
                <a:latin typeface="Montserrat"/>
              </a:rPr>
              <a:t>-10%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37575" y="39319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spc="45000">
                <a:solidFill>
                  <a:srgbClr val="D4AF37"/>
                </a:solidFill>
                <a:latin typeface="Montserrat"/>
              </a:rPr>
              <a:t>НА АРЕНДУ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5230368"/>
            <a:ext cx="39136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spc="15000">
                <a:solidFill>
                  <a:srgbClr val="A0AEC0">
                    <a:alpha val="85000"/>
                  </a:srgbClr>
                </a:solidFill>
                <a:latin typeface="Inter"/>
              </a:rPr>
              <a:t>Любая локация · Высокий сезон · Без ограничений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11A30"/>
              </a:gs>
              <a:gs pos="55000">
                <a:srgbClr val="0B101F"/>
              </a:gs>
              <a:gs pos="100000">
                <a:srgbClr val="080C16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35000">
                <a:solidFill>
                  <a:srgbClr val="A0AEC0">
                    <a:alpha val="70000"/>
                  </a:srgbClr>
                </a:solidFill>
                <a:latin typeface="Montserrat"/>
              </a:rPr>
              <a:t>МОСКВА · СЕЗОН 2024–2025</a:t>
            </a:r>
          </a:p>
        </p:txBody>
      </p:sp>
      <p:sp>
        <p:nvSpPr>
          <p:cNvPr id="4" name="Rectangle 3"/>
          <p:cNvSpPr/>
          <p:nvPr/>
        </p:nvSpPr>
        <p:spPr>
          <a:xfrm>
            <a:off x="9811512" y="365760"/>
            <a:ext cx="1554480" cy="475488"/>
          </a:xfrm>
          <a:prstGeom prst="rect">
            <a:avLst/>
          </a:prstGeom>
          <a:noFill/>
          <a:ln w="9525">
            <a:solidFill>
              <a:srgbClr val="D4AF37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11512" y="365760"/>
            <a:ext cx="15544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spc="40000">
                <a:solidFill>
                  <a:srgbClr val="A0AEC0">
                    <a:alpha val="85000"/>
                  </a:srgbClr>
                </a:solidFill>
                <a:latin typeface="Montserrat"/>
              </a:rPr>
              <a:t>ЛОГОТИП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024128"/>
            <a:ext cx="10545775" cy="10058"/>
          </a:xfrm>
          <a:prstGeom prst="rect">
            <a:avLst/>
          </a:prstGeom>
          <a:solidFill>
            <a:srgbClr val="D4AF37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545775" cy="10058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528816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20000">
                <a:solidFill>
                  <a:srgbClr val="A0AEC0">
                    <a:alpha val="60000"/>
                  </a:srgbClr>
                </a:solidFill>
                <a:latin typeface="Inter"/>
              </a:rPr>
              <a:t>04 /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93992" y="6528816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spc="20000">
                <a:solidFill>
                  <a:srgbClr val="A0AEC0">
                    <a:alpha val="45000"/>
                  </a:srgbClr>
                </a:solidFill>
                <a:latin typeface="Inter"/>
              </a:rPr>
              <a:t>НОВОГОДНИЙ КОРПОРАТИВ · ПРЕДВАРИТЕЛЬНЫЙ ЗАКАЗ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691640"/>
            <a:ext cx="4690872" cy="32918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21500" b="1" spc="0">
                <a:solidFill>
                  <a:srgbClr val="D4AF37">
                    <a:alpha val="8000"/>
                  </a:srgbClr>
                </a:solidFill>
                <a:latin typeface="Montserrat"/>
              </a:rPr>
              <a:t>03</a:t>
            </a:r>
          </a:p>
        </p:txBody>
      </p:sp>
      <p:sp>
        <p:nvSpPr>
          <p:cNvPr id="11" name="Diamond 10"/>
          <p:cNvSpPr/>
          <p:nvPr/>
        </p:nvSpPr>
        <p:spPr>
          <a:xfrm>
            <a:off x="822959" y="1499616"/>
            <a:ext cx="82296" cy="82296"/>
          </a:xfrm>
          <a:prstGeom prst="diamond">
            <a:avLst/>
          </a:prstGeom>
          <a:solidFill>
            <a:srgbClr val="D4AF37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1417320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spc="35000">
                <a:solidFill>
                  <a:srgbClr val="E5C378"/>
                </a:solidFill>
                <a:latin typeface="Montserrat"/>
              </a:rPr>
              <a:t>ПРЕИМУЩЕСТВО 03 · КРЕАТИВ И РЕЖИССУРА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810512"/>
            <a:ext cx="6400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 spc="5000">
                <a:solidFill>
                  <a:srgbClr val="FFFFFF"/>
                </a:solidFill>
                <a:latin typeface="Montserrat"/>
              </a:rPr>
              <a:t>Написание 3-х вариантов подробной концепции мероприятия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10128"/>
            <a:ext cx="617220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250" b="0" spc="0">
                <a:solidFill>
                  <a:srgbClr val="A0AEC0"/>
                </a:solidFill>
                <a:latin typeface="Inter"/>
              </a:rPr>
              <a:t>Никаких банальных «голубых огоньков» — мы разработаем три уникальных авторских сценария, от иммерсивной зимней сказки до стильного светского бала в духе Met Gala. Вам останется лишь выбрать, какой вау-эффект ярче всего подчеркнет триумф компании в уходящем году.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1810512"/>
            <a:ext cx="3913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spc="25000">
                <a:solidFill>
                  <a:srgbClr val="A0AEC0">
                    <a:alpha val="80000"/>
                  </a:srgbClr>
                </a:solidFill>
                <a:latin typeface="Montserrat"/>
              </a:rPr>
              <a:t>ТРИ КОНЦЕПЦИИ · ОДИН ВАШ ВЫБОР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52360" y="2157984"/>
            <a:ext cx="3913632" cy="932688"/>
          </a:xfrm>
          <a:prstGeom prst="roundRect">
            <a:avLst>
              <a:gd name="adj" fmla="val 1000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52360" y="2395728"/>
            <a:ext cx="12801" cy="457200"/>
          </a:xfrm>
          <a:prstGeom prst="rect">
            <a:avLst/>
          </a:prstGeom>
          <a:solidFill>
            <a:srgbClr val="D4AF37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08392" y="2157984"/>
            <a:ext cx="457200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spc="10000">
                <a:solidFill>
                  <a:srgbClr val="D4AF37"/>
                </a:solidFill>
                <a:latin typeface="Montserrat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377439"/>
            <a:ext cx="3017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0">
                <a:solidFill>
                  <a:srgbClr val="FFFFFF"/>
                </a:solidFill>
                <a:latin typeface="Montserrat"/>
              </a:rPr>
              <a:t>Иммерсивное шоу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2688336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spc="5000">
                <a:solidFill>
                  <a:srgbClr val="A0AEC0">
                    <a:alpha val="85000"/>
                  </a:srgbClr>
                </a:solidFill>
                <a:latin typeface="Inter"/>
              </a:rPr>
              <a:t>зимняя сказка · интерактивный формат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52360" y="3255263"/>
            <a:ext cx="3913632" cy="932688"/>
          </a:xfrm>
          <a:prstGeom prst="roundRect">
            <a:avLst>
              <a:gd name="adj" fmla="val 1000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52360" y="3493007"/>
            <a:ext cx="12801" cy="457200"/>
          </a:xfrm>
          <a:prstGeom prst="rect">
            <a:avLst/>
          </a:prstGeom>
          <a:solidFill>
            <a:srgbClr val="D4AF37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08392" y="3255263"/>
            <a:ext cx="457200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spc="10000">
                <a:solidFill>
                  <a:srgbClr val="D4AF37"/>
                </a:solidFill>
                <a:latin typeface="Montserrat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79" y="3474720"/>
            <a:ext cx="3017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0">
                <a:solidFill>
                  <a:srgbClr val="FFFFFF"/>
                </a:solidFill>
                <a:latin typeface="Montserrat"/>
              </a:rPr>
              <a:t>Светский гала-ужин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79" y="3785615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spc="5000">
                <a:solidFill>
                  <a:srgbClr val="A0AEC0">
                    <a:alpha val="85000"/>
                  </a:srgbClr>
                </a:solidFill>
                <a:latin typeface="Inter"/>
              </a:rPr>
              <a:t>бальный вечер в духе Met Gala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52360" y="4352544"/>
            <a:ext cx="3913632" cy="932688"/>
          </a:xfrm>
          <a:prstGeom prst="roundRect">
            <a:avLst>
              <a:gd name="adj" fmla="val 1000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52360" y="4590288"/>
            <a:ext cx="12801" cy="457200"/>
          </a:xfrm>
          <a:prstGeom prst="rect">
            <a:avLst/>
          </a:prstGeom>
          <a:solidFill>
            <a:srgbClr val="D4AF37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08392" y="4352544"/>
            <a:ext cx="457200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spc="10000">
                <a:solidFill>
                  <a:srgbClr val="D4AF37"/>
                </a:solidFill>
                <a:latin typeface="Montserrat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79" y="4572000"/>
            <a:ext cx="3017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0">
                <a:solidFill>
                  <a:srgbClr val="FFFFFF"/>
                </a:solidFill>
                <a:latin typeface="Montserrat"/>
              </a:rPr>
              <a:t>Индивидуальный кастом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79" y="4882896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spc="5000">
                <a:solidFill>
                  <a:srgbClr val="A0AEC0">
                    <a:alpha val="85000"/>
                  </a:srgbClr>
                </a:solidFill>
                <a:latin typeface="Inter"/>
              </a:rPr>
              <a:t>полностью авторский сценарий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2360" y="5504688"/>
            <a:ext cx="3913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spc="20000">
                <a:solidFill>
                  <a:srgbClr val="D4AF37">
                    <a:alpha val="75000"/>
                  </a:srgbClr>
                </a:solidFill>
                <a:latin typeface="Montserrat"/>
              </a:rPr>
              <a:t>ПРЕЗЕНТАЦИЯ ТРЁХ ВАРИАНТОВ — ВХОДИТ В ПРЕДЗАКАЗ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11A30"/>
              </a:gs>
              <a:gs pos="55000">
                <a:srgbClr val="0B101F"/>
              </a:gs>
              <a:gs pos="100000">
                <a:srgbClr val="080C16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35000">
                <a:solidFill>
                  <a:srgbClr val="A0AEC0">
                    <a:alpha val="70000"/>
                  </a:srgbClr>
                </a:solidFill>
                <a:latin typeface="Montserrat"/>
              </a:rPr>
              <a:t>МОСКВА · СЕЗОН 2024–2025</a:t>
            </a:r>
          </a:p>
        </p:txBody>
      </p:sp>
      <p:sp>
        <p:nvSpPr>
          <p:cNvPr id="4" name="Rectangle 3"/>
          <p:cNvSpPr/>
          <p:nvPr/>
        </p:nvSpPr>
        <p:spPr>
          <a:xfrm>
            <a:off x="9811512" y="365760"/>
            <a:ext cx="1554480" cy="475488"/>
          </a:xfrm>
          <a:prstGeom prst="rect">
            <a:avLst/>
          </a:prstGeom>
          <a:noFill/>
          <a:ln w="9525">
            <a:solidFill>
              <a:srgbClr val="D4AF37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11512" y="365760"/>
            <a:ext cx="15544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spc="40000">
                <a:solidFill>
                  <a:srgbClr val="A0AEC0">
                    <a:alpha val="85000"/>
                  </a:srgbClr>
                </a:solidFill>
                <a:latin typeface="Montserrat"/>
              </a:rPr>
              <a:t>ЛОГОТИП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024128"/>
            <a:ext cx="10545775" cy="10058"/>
          </a:xfrm>
          <a:prstGeom prst="rect">
            <a:avLst/>
          </a:prstGeom>
          <a:solidFill>
            <a:srgbClr val="D4AF37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545775" cy="10058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528816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20000">
                <a:solidFill>
                  <a:srgbClr val="A0AEC0">
                    <a:alpha val="60000"/>
                  </a:srgbClr>
                </a:solidFill>
                <a:latin typeface="Inter"/>
              </a:rPr>
              <a:t>05 /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93992" y="6528816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spc="20000">
                <a:solidFill>
                  <a:srgbClr val="A0AEC0">
                    <a:alpha val="45000"/>
                  </a:srgbClr>
                </a:solidFill>
                <a:latin typeface="Inter"/>
              </a:rPr>
              <a:t>НОВОГОДНИЙ КОРПОРАТИВ · ПРЕДВАРИТЕЛЬНЫЙ ЗАКАЗ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691640"/>
            <a:ext cx="4690872" cy="32918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21500" b="1" spc="0">
                <a:solidFill>
                  <a:srgbClr val="D4AF37">
                    <a:alpha val="8000"/>
                  </a:srgbClr>
                </a:solidFill>
                <a:latin typeface="Montserrat"/>
              </a:rPr>
              <a:t>04</a:t>
            </a:r>
          </a:p>
        </p:txBody>
      </p:sp>
      <p:sp>
        <p:nvSpPr>
          <p:cNvPr id="11" name="Diamond 10"/>
          <p:cNvSpPr/>
          <p:nvPr/>
        </p:nvSpPr>
        <p:spPr>
          <a:xfrm>
            <a:off x="822959" y="1499616"/>
            <a:ext cx="82296" cy="82296"/>
          </a:xfrm>
          <a:prstGeom prst="diamond">
            <a:avLst/>
          </a:prstGeom>
          <a:solidFill>
            <a:srgbClr val="D4AF37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1417320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spc="35000">
                <a:solidFill>
                  <a:srgbClr val="E5C378"/>
                </a:solidFill>
                <a:latin typeface="Montserrat"/>
              </a:rPr>
              <a:t>ПРЕИМУЩЕСТВО 04 · БЕЗОПАСНЫЙ СТАРТ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810512"/>
            <a:ext cx="6400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 spc="5000">
                <a:solidFill>
                  <a:srgbClr val="FFFFFF"/>
                </a:solidFill>
                <a:latin typeface="Montserrat"/>
              </a:rPr>
              <a:t>Предоплата всего 30% от суммы мероприятия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10128"/>
            <a:ext cx="617220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250" b="0" spc="0">
                <a:solidFill>
                  <a:srgbClr val="A0AEC0"/>
                </a:solidFill>
                <a:latin typeface="Inter"/>
              </a:rPr>
              <a:t>Зафиксируйте за собой безупречный праздник всего за треть стоимости и спокойно готовьтесь к финалу года. Вы бронируете лучших подрядчиков и артистов прямо сейчас, не замораживая оборотные средства компании.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1810512"/>
            <a:ext cx="3913632" cy="3749039"/>
          </a:xfrm>
          <a:prstGeom prst="roundRect">
            <a:avLst>
              <a:gd name="adj" fmla="val 450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26679" y="1828800"/>
            <a:ext cx="3364992" cy="12801"/>
          </a:xfrm>
          <a:prstGeom prst="rect">
            <a:avLst/>
          </a:prstGeom>
          <a:solidFill>
            <a:srgbClr val="D4AF37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2139696"/>
            <a:ext cx="3328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spc="30000">
                <a:solidFill>
                  <a:srgbClr val="A0AEC0">
                    <a:alpha val="80000"/>
                  </a:srgbClr>
                </a:solidFill>
                <a:latin typeface="Montserrat"/>
              </a:rPr>
              <a:t>СТРУКТУРА ФИКСАЦИИ БРОНИ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2432304"/>
            <a:ext cx="164592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5400" b="1" spc="0">
                <a:solidFill>
                  <a:srgbClr val="E5C378"/>
                </a:solidFill>
                <a:latin typeface="Montserrat"/>
              </a:rPr>
              <a:t>30%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432304"/>
            <a:ext cx="17373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spc="0">
                <a:solidFill>
                  <a:srgbClr val="A0AEC0">
                    <a:alpha val="90000"/>
                  </a:srgbClr>
                </a:solidFill>
                <a:latin typeface="Inter"/>
              </a:rPr>
              <a:t>достаточно, чтобы дата и площадка стали вашими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44968" y="3968496"/>
            <a:ext cx="3328416" cy="128016"/>
          </a:xfrm>
          <a:prstGeom prst="roundRect">
            <a:avLst>
              <a:gd name="adj" fmla="val 50000"/>
            </a:avLst>
          </a:prstGeom>
          <a:solidFill>
            <a:srgbClr val="FFFF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44968" y="3968496"/>
            <a:ext cx="996696" cy="128016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37092" y="3877056"/>
            <a:ext cx="10058" cy="310896"/>
          </a:xfrm>
          <a:prstGeom prst="rect">
            <a:avLst/>
          </a:prstGeom>
          <a:solidFill>
            <a:srgbClr val="D4AF37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44968" y="4242816"/>
            <a:ext cx="274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0">
                <a:solidFill>
                  <a:srgbClr val="A0AEC0">
                    <a:alpha val="70000"/>
                  </a:srgbClr>
                </a:solidFill>
                <a:latin typeface="Inter"/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4242816"/>
            <a:ext cx="5029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spc="0">
                <a:solidFill>
                  <a:srgbClr val="D4AF37"/>
                </a:solidFill>
                <a:latin typeface="Montserrat"/>
              </a:rPr>
              <a:t>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44200" y="4242816"/>
            <a:ext cx="32918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spc="0">
                <a:solidFill>
                  <a:srgbClr val="A0AEC0">
                    <a:alpha val="70000"/>
                  </a:srgbClr>
                </a:solidFill>
                <a:latin typeface="Inter"/>
              </a:rPr>
              <a:t>100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44968" y="4608576"/>
            <a:ext cx="332841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spc="0">
                <a:solidFill>
                  <a:srgbClr val="A0AEC0">
                    <a:alpha val="90000"/>
                  </a:srgbClr>
                </a:solidFill>
                <a:latin typeface="Inter"/>
              </a:rPr>
              <a:t>Остальные 70% — по комфортному графику после утверждения концепции и подрядчиков.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44968" y="5120640"/>
            <a:ext cx="3328416" cy="347472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44968" y="5120640"/>
            <a:ext cx="332841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 spc="15000">
                <a:solidFill>
                  <a:srgbClr val="E5C378"/>
                </a:solidFill>
                <a:latin typeface="Montserrat"/>
              </a:rPr>
              <a:t>БЕЗ ЗАМОРОЗКИ ОБОРОТНЫХ СРЕДСТВ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11A30"/>
              </a:gs>
              <a:gs pos="55000">
                <a:srgbClr val="0B101F"/>
              </a:gs>
              <a:gs pos="100000">
                <a:srgbClr val="080C16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35000">
                <a:solidFill>
                  <a:srgbClr val="A0AEC0">
                    <a:alpha val="70000"/>
                  </a:srgbClr>
                </a:solidFill>
                <a:latin typeface="Montserrat"/>
              </a:rPr>
              <a:t>МОСКВА · СЕЗОН 2024–2025</a:t>
            </a:r>
          </a:p>
        </p:txBody>
      </p:sp>
      <p:sp>
        <p:nvSpPr>
          <p:cNvPr id="4" name="Rectangle 3"/>
          <p:cNvSpPr/>
          <p:nvPr/>
        </p:nvSpPr>
        <p:spPr>
          <a:xfrm>
            <a:off x="9811512" y="365760"/>
            <a:ext cx="1554480" cy="475488"/>
          </a:xfrm>
          <a:prstGeom prst="rect">
            <a:avLst/>
          </a:prstGeom>
          <a:noFill/>
          <a:ln w="9525">
            <a:solidFill>
              <a:srgbClr val="D4AF37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11512" y="365760"/>
            <a:ext cx="15544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spc="40000">
                <a:solidFill>
                  <a:srgbClr val="A0AEC0">
                    <a:alpha val="85000"/>
                  </a:srgbClr>
                </a:solidFill>
                <a:latin typeface="Montserrat"/>
              </a:rPr>
              <a:t>ЛОГОТИП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024128"/>
            <a:ext cx="10545775" cy="10058"/>
          </a:xfrm>
          <a:prstGeom prst="rect">
            <a:avLst/>
          </a:prstGeom>
          <a:solidFill>
            <a:srgbClr val="D4AF37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545775" cy="10058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528816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20000">
                <a:solidFill>
                  <a:srgbClr val="A0AEC0">
                    <a:alpha val="60000"/>
                  </a:srgbClr>
                </a:solidFill>
                <a:latin typeface="Inter"/>
              </a:rPr>
              <a:t>06 /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93992" y="6528816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spc="20000">
                <a:solidFill>
                  <a:srgbClr val="A0AEC0">
                    <a:alpha val="45000"/>
                  </a:srgbClr>
                </a:solidFill>
                <a:latin typeface="Inter"/>
              </a:rPr>
              <a:t>НОВОГОДНИЙ КОРПОРАТИВ · ПРЕДВАРИТЕЛЬНЫЙ ЗАКАЗ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691640"/>
            <a:ext cx="4690872" cy="32918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21500" b="1" spc="0">
                <a:solidFill>
                  <a:srgbClr val="D4AF37">
                    <a:alpha val="8000"/>
                  </a:srgbClr>
                </a:solidFill>
                <a:latin typeface="Montserrat"/>
              </a:rPr>
              <a:t>05</a:t>
            </a:r>
          </a:p>
        </p:txBody>
      </p:sp>
      <p:sp>
        <p:nvSpPr>
          <p:cNvPr id="11" name="Diamond 10"/>
          <p:cNvSpPr/>
          <p:nvPr/>
        </p:nvSpPr>
        <p:spPr>
          <a:xfrm>
            <a:off x="822959" y="1499616"/>
            <a:ext cx="82296" cy="82296"/>
          </a:xfrm>
          <a:prstGeom prst="diamond">
            <a:avLst/>
          </a:prstGeom>
          <a:solidFill>
            <a:srgbClr val="D4AF37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1417320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spc="35000">
                <a:solidFill>
                  <a:srgbClr val="E5C378"/>
                </a:solidFill>
                <a:latin typeface="Montserrat"/>
              </a:rPr>
              <a:t>ПРЕИМУЩЕСТВО 05 · КОМФОРТ ДЛЯ БУХГАЛТЕРИИ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810512"/>
            <a:ext cx="6400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 spc="5000">
                <a:solidFill>
                  <a:srgbClr val="FFFFFF"/>
                </a:solidFill>
                <a:latin typeface="Montserrat"/>
              </a:rPr>
              <a:t>Удобный график платежей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10128"/>
            <a:ext cx="617220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250" b="0" spc="0">
                <a:solidFill>
                  <a:srgbClr val="A0AEC0"/>
                </a:solidFill>
                <a:latin typeface="Inter"/>
              </a:rPr>
              <a:t>Никаких кассовых разрывов перед закрытием финансового года: мы составим комфортный календарь траншей, синхронизированный с вашей бухгалтерией. Вы закрываете бюджет поэтапно, прозрачно и без предновогоднего стресса.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1810512"/>
            <a:ext cx="391363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1" spc="20000">
                <a:solidFill>
                  <a:srgbClr val="A0AEC0">
                    <a:alpha val="80000"/>
                  </a:srgbClr>
                </a:solidFill>
                <a:latin typeface="Montserrat"/>
              </a:rPr>
              <a:t>КАЛЕНДАРЬ ТРАНШЕЙ · СОГЛАСУЕМ С ВАШЕЙ БУХГАЛЕРИЕЙ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26679" y="3675887"/>
            <a:ext cx="3364992" cy="10058"/>
          </a:xfrm>
          <a:prstGeom prst="rect">
            <a:avLst/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35823" y="3552444"/>
            <a:ext cx="256032" cy="256032"/>
          </a:xfrm>
          <a:prstGeom prst="ellipse">
            <a:avLst/>
          </a:prstGeom>
          <a:noFill/>
          <a:ln w="9525">
            <a:solidFill>
              <a:srgbClr val="FFFFFF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804404" y="3621024"/>
            <a:ext cx="118872" cy="118872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78040" y="301752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spc="0">
                <a:solidFill>
                  <a:srgbClr val="E5C378"/>
                </a:solidFill>
                <a:latin typeface="Montserrat"/>
              </a:rPr>
              <a:t>30%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3950208"/>
            <a:ext cx="1554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spc="0">
                <a:solidFill>
                  <a:srgbClr val="FFFFFF"/>
                </a:solidFill>
                <a:latin typeface="Montserrat"/>
              </a:rPr>
              <a:t>Транш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22592" y="4279392"/>
            <a:ext cx="168249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850" b="0" spc="0">
                <a:solidFill>
                  <a:srgbClr val="A0AEC0">
                    <a:alpha val="85000"/>
                  </a:srgbClr>
                </a:solidFill>
                <a:latin typeface="Inter"/>
              </a:rPr>
              <a:t>фиксируем дату и площадку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4956048"/>
            <a:ext cx="1554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spc="35000">
                <a:solidFill>
                  <a:srgbClr val="D4AF37">
                    <a:alpha val="80000"/>
                  </a:srgbClr>
                </a:solidFill>
                <a:latin typeface="Montserrat"/>
              </a:rPr>
              <a:t>СЕГОДНЯ</a:t>
            </a:r>
          </a:p>
        </p:txBody>
      </p:sp>
      <p:sp>
        <p:nvSpPr>
          <p:cNvPr id="23" name="Oval 22"/>
          <p:cNvSpPr/>
          <p:nvPr/>
        </p:nvSpPr>
        <p:spPr>
          <a:xfrm>
            <a:off x="9281159" y="3552444"/>
            <a:ext cx="256032" cy="256032"/>
          </a:xfrm>
          <a:prstGeom prst="ellipse">
            <a:avLst/>
          </a:prstGeom>
          <a:noFill/>
          <a:ln w="9525">
            <a:solidFill>
              <a:srgbClr val="FFFFFF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49740" y="3621024"/>
            <a:ext cx="118872" cy="118872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23376" y="301752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spc="0">
                <a:solidFill>
                  <a:srgbClr val="E5C378"/>
                </a:solidFill>
                <a:latin typeface="Montserrat"/>
              </a:rPr>
              <a:t>40%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31936" y="3950208"/>
            <a:ext cx="1554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spc="0">
                <a:solidFill>
                  <a:srgbClr val="FFFFFF"/>
                </a:solidFill>
                <a:latin typeface="Montserrat"/>
              </a:rPr>
              <a:t>Транш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67928" y="4279392"/>
            <a:ext cx="168249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850" b="0" spc="0">
                <a:solidFill>
                  <a:srgbClr val="A0AEC0">
                    <a:alpha val="85000"/>
                  </a:srgbClr>
                </a:solidFill>
                <a:latin typeface="Inter"/>
              </a:rPr>
              <a:t>сценарий и подрядчики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31936" y="4956048"/>
            <a:ext cx="1554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spc="35000">
                <a:solidFill>
                  <a:srgbClr val="D4AF37">
                    <a:alpha val="80000"/>
                  </a:srgbClr>
                </a:solidFill>
                <a:latin typeface="Montserrat"/>
              </a:rPr>
              <a:t>НОЯБРЬ</a:t>
            </a:r>
          </a:p>
        </p:txBody>
      </p:sp>
      <p:sp>
        <p:nvSpPr>
          <p:cNvPr id="29" name="Oval 28"/>
          <p:cNvSpPr/>
          <p:nvPr/>
        </p:nvSpPr>
        <p:spPr>
          <a:xfrm>
            <a:off x="10826496" y="3552444"/>
            <a:ext cx="256032" cy="256032"/>
          </a:xfrm>
          <a:prstGeom prst="ellipse">
            <a:avLst/>
          </a:prstGeom>
          <a:noFill/>
          <a:ln w="9525">
            <a:solidFill>
              <a:srgbClr val="FFFFFF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895076" y="3621024"/>
            <a:ext cx="118872" cy="118872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68712" y="301752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spc="0">
                <a:solidFill>
                  <a:srgbClr val="E5C378"/>
                </a:solidFill>
                <a:latin typeface="Montserrat"/>
              </a:rPr>
              <a:t>30%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77272" y="3950208"/>
            <a:ext cx="1554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spc="0">
                <a:solidFill>
                  <a:srgbClr val="FFFFFF"/>
                </a:solidFill>
                <a:latin typeface="Montserrat"/>
              </a:rPr>
              <a:t>Финал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13264" y="4279392"/>
            <a:ext cx="168249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850" b="0" spc="0">
                <a:solidFill>
                  <a:srgbClr val="A0AEC0">
                    <a:alpha val="85000"/>
                  </a:srgbClr>
                </a:solidFill>
                <a:latin typeface="Inter"/>
              </a:rPr>
              <a:t>полная готовность события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77272" y="4956048"/>
            <a:ext cx="1554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spc="35000">
                <a:solidFill>
                  <a:srgbClr val="D4AF37">
                    <a:alpha val="80000"/>
                  </a:srgbClr>
                </a:solidFill>
                <a:latin typeface="Montserrat"/>
              </a:rPr>
              <a:t>ДЕКАБРЬ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35844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spc="0">
                <a:solidFill>
                  <a:srgbClr val="A0AEC0">
                    <a:alpha val="60000"/>
                  </a:srgbClr>
                </a:solidFill>
                <a:latin typeface="Inter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49840" y="35844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spc="0">
                <a:solidFill>
                  <a:srgbClr val="A0AEC0">
                    <a:alpha val="60000"/>
                  </a:srgbClr>
                </a:solidFill>
                <a:latin typeface="Inter"/>
              </a:rPr>
              <a:t>→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11A30"/>
              </a:gs>
              <a:gs pos="55000">
                <a:srgbClr val="0B101F"/>
              </a:gs>
              <a:gs pos="100000">
                <a:srgbClr val="080C16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35000">
                <a:solidFill>
                  <a:srgbClr val="A0AEC0">
                    <a:alpha val="70000"/>
                  </a:srgbClr>
                </a:solidFill>
                <a:latin typeface="Montserrat"/>
              </a:rPr>
              <a:t>МОСКВА · СЕЗОН 2024–2025</a:t>
            </a:r>
          </a:p>
        </p:txBody>
      </p:sp>
      <p:sp>
        <p:nvSpPr>
          <p:cNvPr id="4" name="Rectangle 3"/>
          <p:cNvSpPr/>
          <p:nvPr/>
        </p:nvSpPr>
        <p:spPr>
          <a:xfrm>
            <a:off x="9811512" y="365760"/>
            <a:ext cx="1554480" cy="475488"/>
          </a:xfrm>
          <a:prstGeom prst="rect">
            <a:avLst/>
          </a:prstGeom>
          <a:noFill/>
          <a:ln w="9525">
            <a:solidFill>
              <a:srgbClr val="D4AF37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11512" y="365760"/>
            <a:ext cx="15544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spc="40000">
                <a:solidFill>
                  <a:srgbClr val="A0AEC0">
                    <a:alpha val="85000"/>
                  </a:srgbClr>
                </a:solidFill>
                <a:latin typeface="Montserrat"/>
              </a:rPr>
              <a:t>ЛОГОТИП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024128"/>
            <a:ext cx="10545775" cy="10058"/>
          </a:xfrm>
          <a:prstGeom prst="rect">
            <a:avLst/>
          </a:prstGeom>
          <a:solidFill>
            <a:srgbClr val="D4AF37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545775" cy="10058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528816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20000">
                <a:solidFill>
                  <a:srgbClr val="A0AEC0">
                    <a:alpha val="60000"/>
                  </a:srgbClr>
                </a:solidFill>
                <a:latin typeface="Inter"/>
              </a:rPr>
              <a:t>07 /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93992" y="6528816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spc="20000">
                <a:solidFill>
                  <a:srgbClr val="A0AEC0">
                    <a:alpha val="45000"/>
                  </a:srgbClr>
                </a:solidFill>
                <a:latin typeface="Inter"/>
              </a:rPr>
              <a:t>НОВОГОДНИЙ КОРПОРАТИВ · ПРЕДВАРИТЕЛЬНЫЙ ЗАКАЗ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691640"/>
            <a:ext cx="4690872" cy="32918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21500" b="1" spc="0">
                <a:solidFill>
                  <a:srgbClr val="D4AF37">
                    <a:alpha val="8000"/>
                  </a:srgbClr>
                </a:solidFill>
                <a:latin typeface="Montserrat"/>
              </a:rPr>
              <a:t>06</a:t>
            </a:r>
          </a:p>
        </p:txBody>
      </p:sp>
      <p:sp>
        <p:nvSpPr>
          <p:cNvPr id="11" name="Diamond 10"/>
          <p:cNvSpPr/>
          <p:nvPr/>
        </p:nvSpPr>
        <p:spPr>
          <a:xfrm>
            <a:off x="822959" y="1499616"/>
            <a:ext cx="82296" cy="82296"/>
          </a:xfrm>
          <a:prstGeom prst="diamond">
            <a:avLst/>
          </a:prstGeom>
          <a:solidFill>
            <a:srgbClr val="D4AF37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1417320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spc="35000">
                <a:solidFill>
                  <a:srgbClr val="E5C378"/>
                </a:solidFill>
                <a:latin typeface="Montserrat"/>
              </a:rPr>
              <a:t>ПРЕИМУЩЕСТВО 06 · ПОДАРОК № 1 — ТИМБИЛДИНГ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810512"/>
            <a:ext cx="6400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 spc="5000">
                <a:solidFill>
                  <a:srgbClr val="FFFFFF"/>
                </a:solidFill>
                <a:latin typeface="Montserrat"/>
              </a:rPr>
              <a:t>Предварительное онлайн-командообразующее мероприятие в подарок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10128"/>
            <a:ext cx="617220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250" b="0" spc="0">
                <a:solidFill>
                  <a:srgbClr val="A0AEC0"/>
                </a:solidFill>
                <a:latin typeface="Inter"/>
              </a:rPr>
              <a:t>Дарим интерактивный онлайн-квиз или предновогодний стрим, который снимет напряжение от декабрьских дедлайнов и объединит даже удаленщиков. Это идеальный разогрев, который подарит команде праздничное настроение задолго до первого звона бокалов.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1810512"/>
            <a:ext cx="3913632" cy="3749039"/>
          </a:xfrm>
          <a:prstGeom prst="roundRect">
            <a:avLst>
              <a:gd name="adj" fmla="val 4500"/>
            </a:avLst>
          </a:prstGeom>
          <a:solidFill>
            <a:srgbClr val="D4AF37">
              <a:alpha val="4000"/>
            </a:srgbClr>
          </a:solidFill>
          <a:ln w="12700">
            <a:solidFill>
              <a:srgbClr val="D4AF37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26679" y="1828800"/>
            <a:ext cx="3364992" cy="12801"/>
          </a:xfrm>
          <a:prstGeom prst="rect">
            <a:avLst/>
          </a:prstGeom>
          <a:solidFill>
            <a:srgbClr val="D4AF37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2212848"/>
            <a:ext cx="332841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spc="50000">
                <a:solidFill>
                  <a:srgbClr val="E5C378"/>
                </a:solidFill>
                <a:latin typeface="Montserrat"/>
              </a:rPr>
              <a:t>SPECIAL GIFT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2596896"/>
            <a:ext cx="3328416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400" b="1" spc="0">
                <a:solidFill>
                  <a:srgbClr val="FFFFFF"/>
                </a:solidFill>
                <a:latin typeface="Montserrat"/>
              </a:rPr>
              <a:t>0 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44968" y="3877056"/>
            <a:ext cx="3328416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spc="0">
                <a:solidFill>
                  <a:srgbClr val="A0AEC0">
                    <a:alpha val="90000"/>
                  </a:srgbClr>
                </a:solidFill>
                <a:latin typeface="Inter"/>
              </a:rPr>
              <a:t>Онлайн-квиз или предновогодний стрим — в подарок каждой команде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44968" y="4718304"/>
            <a:ext cx="3328416" cy="10058"/>
          </a:xfrm>
          <a:prstGeom prst="rect">
            <a:avLst/>
          </a:prstGeom>
          <a:solidFill>
            <a:srgbClr val="D4AF37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44968" y="4901184"/>
            <a:ext cx="33284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1" spc="25000">
                <a:solidFill>
                  <a:srgbClr val="A0AEC0">
                    <a:alpha val="75000"/>
                  </a:srgbClr>
                </a:solidFill>
                <a:latin typeface="Montserrat"/>
              </a:rPr>
              <a:t>ИДЕАЛЬНЫЙ РАЗОГРЕВ · ДАЖЕ ДЛЯ УДАЛЁННЫХ КОМАНД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11A30"/>
              </a:gs>
              <a:gs pos="55000">
                <a:srgbClr val="0B101F"/>
              </a:gs>
              <a:gs pos="100000">
                <a:srgbClr val="080C16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35000">
                <a:solidFill>
                  <a:srgbClr val="A0AEC0">
                    <a:alpha val="70000"/>
                  </a:srgbClr>
                </a:solidFill>
                <a:latin typeface="Montserrat"/>
              </a:rPr>
              <a:t>МОСКВА · СЕЗОН 2024–2025</a:t>
            </a:r>
          </a:p>
        </p:txBody>
      </p:sp>
      <p:sp>
        <p:nvSpPr>
          <p:cNvPr id="4" name="Rectangle 3"/>
          <p:cNvSpPr/>
          <p:nvPr/>
        </p:nvSpPr>
        <p:spPr>
          <a:xfrm>
            <a:off x="9811512" y="365760"/>
            <a:ext cx="1554480" cy="475488"/>
          </a:xfrm>
          <a:prstGeom prst="rect">
            <a:avLst/>
          </a:prstGeom>
          <a:noFill/>
          <a:ln w="9525">
            <a:solidFill>
              <a:srgbClr val="D4AF37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11512" y="365760"/>
            <a:ext cx="15544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spc="40000">
                <a:solidFill>
                  <a:srgbClr val="A0AEC0">
                    <a:alpha val="85000"/>
                  </a:srgbClr>
                </a:solidFill>
                <a:latin typeface="Montserrat"/>
              </a:rPr>
              <a:t>ЛОГОТИП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024128"/>
            <a:ext cx="10545775" cy="10058"/>
          </a:xfrm>
          <a:prstGeom prst="rect">
            <a:avLst/>
          </a:prstGeom>
          <a:solidFill>
            <a:srgbClr val="D4AF37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545775" cy="10058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528816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20000">
                <a:solidFill>
                  <a:srgbClr val="A0AEC0">
                    <a:alpha val="60000"/>
                  </a:srgbClr>
                </a:solidFill>
                <a:latin typeface="Inter"/>
              </a:rPr>
              <a:t>08 /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93992" y="6528816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spc="20000">
                <a:solidFill>
                  <a:srgbClr val="A0AEC0">
                    <a:alpha val="45000"/>
                  </a:srgbClr>
                </a:solidFill>
                <a:latin typeface="Inter"/>
              </a:rPr>
              <a:t>НОВОГОДНИЙ КОРПОРАТИВ · ПРЕДВАРИТЕЛЬНЫЙ ЗАКАЗ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691640"/>
            <a:ext cx="4690872" cy="32918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21500" b="1" spc="0">
                <a:solidFill>
                  <a:srgbClr val="D4AF37">
                    <a:alpha val="8000"/>
                  </a:srgbClr>
                </a:solidFill>
                <a:latin typeface="Montserrat"/>
              </a:rPr>
              <a:t>07</a:t>
            </a:r>
          </a:p>
        </p:txBody>
      </p:sp>
      <p:sp>
        <p:nvSpPr>
          <p:cNvPr id="11" name="Diamond 10"/>
          <p:cNvSpPr/>
          <p:nvPr/>
        </p:nvSpPr>
        <p:spPr>
          <a:xfrm>
            <a:off x="822959" y="1499616"/>
            <a:ext cx="82296" cy="82296"/>
          </a:xfrm>
          <a:prstGeom prst="diamond">
            <a:avLst/>
          </a:prstGeom>
          <a:solidFill>
            <a:srgbClr val="D4AF37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1417320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spc="35000">
                <a:solidFill>
                  <a:srgbClr val="E5C378"/>
                </a:solidFill>
                <a:latin typeface="Montserrat"/>
              </a:rPr>
              <a:t>ПРЕИМУЩЕСТВО 07 · ПОДАРОК № 2 — ФИНАЛ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810512"/>
            <a:ext cx="6400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 spc="5000">
                <a:solidFill>
                  <a:srgbClr val="FFFFFF"/>
                </a:solidFill>
                <a:latin typeface="Montserrat"/>
              </a:rPr>
              <a:t>Авторский шоу-торт с логотипом компании в подарок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10128"/>
            <a:ext cx="617220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250" b="0" spc="0">
                <a:solidFill>
                  <a:srgbClr val="A0AEC0"/>
                </a:solidFill>
                <a:latin typeface="Inter"/>
              </a:rPr>
              <a:t>Эффектная сладкая кульминация под бой курантов — за наш счет: создадим эксклюзивный торт с корпоративной символикой от звездного шеф-кондитера. Это не просто роскошный десерт за успехи года, а главный герой праздничных сторис ваших сотрудников!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1810512"/>
            <a:ext cx="3913632" cy="2651760"/>
          </a:xfrm>
          <a:prstGeom prst="roundRect">
            <a:avLst>
              <a:gd name="adj" fmla="val 4500"/>
            </a:avLst>
          </a:prstGeom>
          <a:solidFill>
            <a:srgbClr val="D4AF37">
              <a:alpha val="4000"/>
            </a:srgbClr>
          </a:solidFill>
          <a:ln w="12700">
            <a:solidFill>
              <a:srgbClr val="D4AF37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26679" y="1828800"/>
            <a:ext cx="3364992" cy="12801"/>
          </a:xfrm>
          <a:prstGeom prst="rect">
            <a:avLst/>
          </a:prstGeom>
          <a:solidFill>
            <a:srgbClr val="D4AF37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2103120"/>
            <a:ext cx="3328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spc="40000">
                <a:solidFill>
                  <a:srgbClr val="E5C378"/>
                </a:solidFill>
                <a:latin typeface="Montserrat"/>
              </a:rPr>
              <a:t>FINALE · 0 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2359152"/>
            <a:ext cx="332841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spc="0">
                <a:solidFill>
                  <a:srgbClr val="FFFFFF"/>
                </a:solidFill>
                <a:latin typeface="Montserrat"/>
              </a:rPr>
              <a:t>0 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44968" y="3291840"/>
            <a:ext cx="332841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spc="0">
                <a:solidFill>
                  <a:srgbClr val="A0AEC0">
                    <a:alpha val="90000"/>
                  </a:srgbClr>
                </a:solidFill>
                <a:latin typeface="Inter"/>
              </a:rPr>
              <a:t>Авторский шоу-торт от звездного шеф-кондитера — с логотипом компании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44968" y="3931920"/>
            <a:ext cx="3328416" cy="10058"/>
          </a:xfrm>
          <a:prstGeom prst="rect">
            <a:avLst/>
          </a:prstGeom>
          <a:solidFill>
            <a:srgbClr val="D4AF37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44968" y="4041648"/>
            <a:ext cx="3328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spc="15000">
                <a:solidFill>
                  <a:srgbClr val="A0AEC0">
                    <a:alpha val="70000"/>
                  </a:srgbClr>
                </a:solidFill>
                <a:latin typeface="Montserrat"/>
              </a:rPr>
              <a:t>ГЛАВНЫЙ ГЕРОЙ ПРАЗДНИЧНЫХ СТОРИС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956048"/>
            <a:ext cx="10543032" cy="1170432"/>
          </a:xfrm>
          <a:prstGeom prst="roundRect">
            <a:avLst>
              <a:gd name="adj" fmla="val 90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D4AF37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1143000" y="5500116"/>
            <a:ext cx="82296" cy="82296"/>
          </a:xfrm>
          <a:prstGeom prst="diamond">
            <a:avLst/>
          </a:prstGeom>
          <a:solidFill>
            <a:srgbClr val="D4AF37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71600" y="4956048"/>
            <a:ext cx="5029200" cy="1170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spc="6000">
                <a:solidFill>
                  <a:srgbClr val="FFFFFF"/>
                </a:solidFill>
                <a:latin typeface="Montserrat"/>
              </a:rPr>
              <a:t>ЗАБРОНИРУЙТЕ ВСТРЕЧУ И ПРЕЗЕНТАЦИЮ ТРЁХ КОНЦЕПЦИЙ</a:t>
            </a:r>
          </a:p>
          <a:p>
            <a:pPr algn="l">
              <a:spcBef>
                <a:spcPts val="400"/>
              </a:spcBef>
            </a:pPr>
            <a:r>
              <a:rPr sz="950" b="1" spc="30000">
                <a:solidFill>
                  <a:srgbClr val="E5C378"/>
                </a:solidFill>
                <a:latin typeface="Montserrat"/>
              </a:rPr>
              <a:t>УЖЕ НА ЭТОЙ НЕДЕЛЕ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5230368"/>
            <a:ext cx="10058" cy="621792"/>
          </a:xfrm>
          <a:prstGeom prst="rect">
            <a:avLst/>
          </a:prstGeom>
          <a:solidFill>
            <a:srgbClr val="D4AF37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4956048"/>
            <a:ext cx="4434840" cy="1170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55000"/>
              </a:lnSpc>
            </a:pPr>
            <a:r>
              <a:rPr sz="900" b="0" spc="12000">
                <a:solidFill>
                  <a:srgbClr val="A0AEC0">
                    <a:alpha val="95000"/>
                  </a:srgbClr>
                </a:solidFill>
                <a:latin typeface="Inter"/>
              </a:rPr>
              <a:t>ТЕЛЕФОН · +7 900 000-00-00</a:t>
            </a:r>
          </a:p>
          <a:p>
            <a:pPr algn="r">
              <a:lnSpc>
                <a:spcPct val="155000"/>
              </a:lnSpc>
            </a:pPr>
            <a:r>
              <a:rPr sz="900" b="0" spc="12000">
                <a:solidFill>
                  <a:srgbClr val="A0AEC0">
                    <a:alpha val="95000"/>
                  </a:srgbClr>
                </a:solidFill>
                <a:latin typeface="Inter"/>
              </a:rPr>
              <a:t>ПОЧТА · HELLO@AGENCY.RU</a:t>
            </a:r>
          </a:p>
          <a:p>
            <a:pPr algn="r">
              <a:lnSpc>
                <a:spcPct val="155000"/>
              </a:lnSpc>
            </a:pPr>
            <a:r>
              <a:rPr sz="900" b="0" spc="12000">
                <a:solidFill>
                  <a:srgbClr val="A0AEC0">
                    <a:alpha val="95000"/>
                  </a:srgbClr>
                </a:solidFill>
                <a:latin typeface="Inter"/>
              </a:rPr>
              <a:t>TELEGRAM · @AGENCY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Предварительный заказ новогоднего корпоратива</dc:title>
  <dc:subject>Ключевые преимущества предзаказа · Сезон 2024–2025</dc:subject>
  <dc:creator>Event Agency · Moscow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