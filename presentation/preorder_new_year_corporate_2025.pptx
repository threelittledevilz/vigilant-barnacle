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embeddedFontLst>
    <p:embeddedFont>
      <p:font typeface="Montserrat" pitchFamily="34" charset="0"/>
      <p:regular r:id="rId15"/>
    </p:embeddedFont>
    <p:embeddedFont>
      <p:font typeface="Montserrat" pitchFamily="34" charset="0"/>
      <p:bold r:id="rId16"/>
    </p:embeddedFont>
    <p:embeddedFont>
      <p:font typeface="Inter" pitchFamily="34" charset="0"/>
      <p:regular r:id="rId17"/>
    </p:embeddedFont>
    <p:embeddedFont>
      <p:font typeface="Inter" pitchFamily="34" charset="0"/>
      <p:bold r:id="rId1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font" Target="../fonts/font1.fdata"/><Relationship Id="rId16" Type="http://schemas.openxmlformats.org/officeDocument/2006/relationships/font" Target="../fonts/font2.fdata"/><Relationship Id="rId17" Type="http://schemas.openxmlformats.org/officeDocument/2006/relationships/font" Target="../fonts/font3.fdata"/><Relationship Id="rId18" Type="http://schemas.openxmlformats.org/officeDocument/2006/relationships/font" Target="../fonts/font4.f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78440" y="-1325880"/>
            <a:ext cx="3566160" cy="3566160"/>
          </a:xfrm>
          <a:prstGeom prst="ellipse">
            <a:avLst/>
          </a:prstGeom>
          <a:noFill/>
          <a:ln w="12700">
            <a:solidFill>
              <a:srgbClr val="D4AF37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51560" y="5257800"/>
            <a:ext cx="2377440" cy="2377440"/>
          </a:xfrm>
          <a:prstGeom prst="ellipse">
            <a:avLst/>
          </a:prstGeom>
          <a:noFill/>
          <a:ln w="12700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201168" cy="1005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57200"/>
            <a:ext cx="10058" cy="20116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33327" y="457200"/>
            <a:ext cx="201168" cy="1005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34495" y="457200"/>
            <a:ext cx="10058" cy="20116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201168" cy="1005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6199632"/>
            <a:ext cx="10058" cy="20116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33327" y="6400800"/>
            <a:ext cx="201168" cy="1005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734495" y="6199632"/>
            <a:ext cx="10058" cy="20116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507" y="621792"/>
            <a:ext cx="868680" cy="868680"/>
          </a:xfrm>
          <a:prstGeom prst="rect">
            <a:avLst/>
          </a:prstGeom>
          <a:effectLst/>
        </p:spPr>
      </p:pic>
      <p:sp>
        <p:nvSpPr>
          <p:cNvPr id="14" name="Diamond 13"/>
          <p:cNvSpPr/>
          <p:nvPr/>
        </p:nvSpPr>
        <p:spPr>
          <a:xfrm>
            <a:off x="6054699" y="1988820"/>
            <a:ext cx="82296" cy="82296"/>
          </a:xfrm>
          <a:prstGeom prst="diamond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" y="2231136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spc="50000">
                <a:solidFill>
                  <a:srgbClr val="A0AEC0">
                    <a:alpha val="75000"/>
                  </a:srgbClr>
                </a:solidFill>
                <a:latin typeface="Montserrat"/>
                <a:ea typeface="Montserrat"/>
                <a:cs typeface="Montserrat"/>
              </a:rPr>
              <a:t>EXCLUSIVE PRE-BOOKING · WINTER 2024–2025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487168"/>
            <a:ext cx="9601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3600" b="1" spc="30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ПРЕДВАРИТЕЛЬНЫЙ ЗАКАЗ</a:t>
            </a:r>
          </a:p>
          <a:p>
            <a:pPr algn="ctr">
              <a:lnSpc>
                <a:spcPct val="118000"/>
              </a:lnSpc>
            </a:pPr>
            <a:r>
              <a:rPr sz="3600" b="1" spc="30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НОВОГОДНЕГО КОРПОРАТИВА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059936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12000">
                <a:solidFill>
                  <a:srgbClr val="E5C378"/>
                </a:solidFill>
                <a:latin typeface="Inter"/>
                <a:ea typeface="Inter"/>
                <a:cs typeface="Inter"/>
              </a:rPr>
              <a:t>7 причин зафиксировать идеальный финал года уже сейчас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84367" y="4754880"/>
            <a:ext cx="822960" cy="10972"/>
          </a:xfrm>
          <a:prstGeom prst="rect">
            <a:avLst/>
          </a:prstGeom>
          <a:solidFill>
            <a:srgbClr val="D4AF3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52728" y="5614416"/>
            <a:ext cx="9692640" cy="512064"/>
          </a:xfrm>
          <a:prstGeom prst="roundRect">
            <a:avLst>
              <a:gd name="adj" fmla="val 50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2728" y="5614416"/>
            <a:ext cx="9692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spc="25000">
                <a:solidFill>
                  <a:srgbClr val="A0AEC0">
                    <a:alpha val="90000"/>
                  </a:srgbClr>
                </a:solidFill>
                <a:latin typeface="Inter"/>
                <a:ea typeface="Inter"/>
                <a:cs typeface="Inter"/>
              </a:rPr>
              <a:t>МОСКВА   ·   СЕЗОН 2024–2025   ·   ЭКСКЛЮЗИВНОЕ ПРЕДЛОЖЕНИЕ ДЛЯ КОРПОРАТИВНЫХ КЛИЕНТОВ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  <a:ea typeface="Montserrat"/>
                <a:cs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02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  <a:ea typeface="Inter"/>
                <a:cs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ПРЕИМУЩЕСТВО 01 · ДОСТУП К ЭКСКЛЮЗИВУ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Лучшие площадки и даты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  <a:ea typeface="Inter"/>
                <a:cs typeface="Inter"/>
              </a:rPr>
              <a:t>Успеваем перехватить «золотые даты» декабря и бронируем топовые залы столицы, пока весь бизнес стоит в листах ожидания. Никаких компромиссов: ваш корпоратив пройдет в идеальный вечер и на самой эффектной площадке Москвы.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810512"/>
            <a:ext cx="3913632" cy="3749039"/>
          </a:xfrm>
          <a:prstGeom prst="roundRect">
            <a:avLst>
              <a:gd name="adj" fmla="val 45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3364992" cy="12801"/>
          </a:xfrm>
          <a:prstGeom prst="rect">
            <a:avLst/>
          </a:prstGeom>
          <a:solidFill>
            <a:srgbClr val="D4AF3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2139696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30000">
                <a:solidFill>
                  <a:srgbClr val="A0AEC0">
                    <a:alpha val="80000"/>
                  </a:srgbClr>
                </a:solidFill>
                <a:latin typeface="Montserrat"/>
                <a:ea typeface="Montserrat"/>
                <a:cs typeface="Montserrat"/>
              </a:rPr>
              <a:t>ДЕКАБРЬ · ЗОЛОТЫЕ ДАТЫ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8" y="248716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4968" y="2487168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  <a:cs typeface="Inter"/>
              </a:rPr>
              <a:t>18.12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64270" y="248716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4270" y="2487168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  <a:cs typeface="Inter"/>
              </a:rPr>
              <a:t>19.12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3572" y="248716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3572" y="2487168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  <a:cs typeface="Inter"/>
              </a:rPr>
              <a:t>20.12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02875" y="248716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02875" y="2487168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  <a:cs typeface="Inter"/>
              </a:rPr>
              <a:t>21.12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44968" y="2962656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8" y="2962656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  <a:cs typeface="Inter"/>
              </a:rPr>
              <a:t>24.12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64270" y="2962656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64270" y="2962656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  <a:cs typeface="Inter"/>
              </a:rPr>
              <a:t>25.12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3572" y="2962656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83572" y="2962656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  <a:cs typeface="Inter"/>
              </a:rPr>
              <a:t>26.12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02875" y="2962656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D4AF37">
              <a:alpha val="100000"/>
            </a:srgbClr>
          </a:solidFill>
          <a:ln w="9525">
            <a:solidFill>
              <a:srgbClr val="D4AF3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02875" y="2962656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spc="5000">
                <a:solidFill>
                  <a:srgbClr val="0A0F1D"/>
                </a:solidFill>
                <a:latin typeface="Inter"/>
                <a:ea typeface="Inter"/>
                <a:cs typeface="Inter"/>
              </a:rPr>
              <a:t>27.12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8" y="3602736"/>
            <a:ext cx="33284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spc="0">
                <a:solidFill>
                  <a:srgbClr val="A0AEC0">
                    <a:alpha val="85000"/>
                  </a:srgbClr>
                </a:solidFill>
                <a:latin typeface="Inter"/>
                <a:ea typeface="Inter"/>
                <a:cs typeface="Inter"/>
              </a:rPr>
              <a:t>Топовые залы, лофты-иконки и террасы столицы — бронь уже в работе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44968" y="4334256"/>
            <a:ext cx="3328416" cy="676656"/>
          </a:xfrm>
          <a:prstGeom prst="roundRect">
            <a:avLst>
              <a:gd name="adj" fmla="val 10000"/>
            </a:avLst>
          </a:prstGeom>
          <a:solidFill>
            <a:srgbClr val="D4AF37">
              <a:alpha val="7000"/>
            </a:srgbClr>
          </a:solidFill>
          <a:ln w="12700">
            <a:solidFill>
              <a:srgbClr val="D4AF37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4968" y="4334256"/>
            <a:ext cx="332841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spc="30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ПРАЙМ-ТАЙМ ДЕКАБРЯ</a:t>
            </a:r>
          </a:p>
          <a:p>
            <a:pPr algn="ctr"/>
            <a:r>
              <a:rPr sz="1100" b="1" spc="4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ГАРАНТИРОВАН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  <a:ea typeface="Montserrat"/>
                <a:cs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03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  <a:ea typeface="Inter"/>
                <a:cs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ПРЕИМУЩЕСТВО 02 · ФИНАНСОВАЯ ОПТИМИЗАЦИЯ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Скидка 10% на любую площадку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  <a:ea typeface="Inter"/>
                <a:cs typeface="Inter"/>
              </a:rPr>
              <a:t>В разгар декабрьского ценового безумия мы за счет партнерских квот срезаем 10% со стоимости аренды абсолютно любой локации. Вы забираете статусное пространство на пике высокого сезона с очень приятной экономией для бюджета.</a:t>
            </a:r>
          </a:p>
        </p:txBody>
      </p:sp>
      <p:sp>
        <p:nvSpPr>
          <p:cNvPr id="14" name="Diamond 13"/>
          <p:cNvSpPr/>
          <p:nvPr/>
        </p:nvSpPr>
        <p:spPr>
          <a:xfrm>
            <a:off x="9377172" y="1943100"/>
            <a:ext cx="64008" cy="64008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46136" y="2084831"/>
            <a:ext cx="2926080" cy="2926080"/>
          </a:xfrm>
          <a:prstGeom prst="ellipse">
            <a:avLst/>
          </a:prstGeom>
          <a:solidFill>
            <a:srgbClr val="D4AF37">
              <a:alpha val="4000"/>
            </a:srgbClr>
          </a:solidFill>
          <a:ln w="15875">
            <a:solidFill>
              <a:srgbClr val="D4AF37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450592"/>
            <a:ext cx="2194560" cy="2194560"/>
          </a:xfrm>
          <a:prstGeom prst="ellipse">
            <a:avLst/>
          </a:prstGeom>
          <a:noFill/>
          <a:ln w="9525">
            <a:solidFill>
              <a:srgbClr val="D4AF37">
                <a:alpha val="35000"/>
              </a:srgbClr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9016" y="279806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spc="35000">
                <a:solidFill>
                  <a:srgbClr val="A0AEC0">
                    <a:alpha val="80000"/>
                  </a:srgbClr>
                </a:solidFill>
                <a:latin typeface="Montserrat"/>
                <a:ea typeface="Montserrat"/>
                <a:cs typeface="Montserrat"/>
              </a:rPr>
              <a:t>ПАРТНЕРСКАЯ КВОТА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7575" y="3072384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spc="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-10%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3931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45000">
                <a:solidFill>
                  <a:srgbClr val="D4AF37"/>
                </a:solidFill>
                <a:latin typeface="Montserrat"/>
                <a:ea typeface="Montserrat"/>
                <a:cs typeface="Montserrat"/>
              </a:rPr>
              <a:t>НА АРЕНДУ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230368"/>
            <a:ext cx="3913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spc="15000">
                <a:solidFill>
                  <a:srgbClr val="A0AEC0">
                    <a:alpha val="85000"/>
                  </a:srgbClr>
                </a:solidFill>
                <a:latin typeface="Inter"/>
                <a:ea typeface="Inter"/>
                <a:cs typeface="Inter"/>
              </a:rPr>
              <a:t>Любая локация · Высокий сезон · Без ограничений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  <a:ea typeface="Montserrat"/>
                <a:cs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04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  <a:ea typeface="Inter"/>
                <a:cs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ПРЕИМУЩЕСТВО 03 · КРЕАТИВ И РЕЖИССУРА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Написание 3-х вариантов подробной концепции мероприятия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  <a:ea typeface="Inter"/>
                <a:cs typeface="Inter"/>
              </a:rPr>
              <a:t>Никаких банальных «голубых огоньков» — мы разработаем три уникальных авторских сценария, от иммерсивной зимней сказки до стильного светского бала в духе Met Gala. Вам останется лишь выбрать, какой вау-эффект ярче всего подчеркнет триумф компании в уходящем году.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810512"/>
            <a:ext cx="3913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25000">
                <a:solidFill>
                  <a:srgbClr val="A0AEC0">
                    <a:alpha val="80000"/>
                  </a:srgbClr>
                </a:solidFill>
                <a:latin typeface="Montserrat"/>
                <a:ea typeface="Montserrat"/>
                <a:cs typeface="Montserrat"/>
              </a:rPr>
              <a:t>ТРИ КОНЦЕПЦИИ · ОДИН ВАШ ВЫБОР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2157984"/>
            <a:ext cx="3913632" cy="932688"/>
          </a:xfrm>
          <a:prstGeom prst="roundRect">
            <a:avLst>
              <a:gd name="adj" fmla="val 10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2395728"/>
            <a:ext cx="12801" cy="457200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08392" y="2157984"/>
            <a:ext cx="457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spc="10000">
                <a:solidFill>
                  <a:srgbClr val="D4AF37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377439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Иммерсивное шоу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68833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00">
                <a:solidFill>
                  <a:srgbClr val="A0AEC0">
                    <a:alpha val="85000"/>
                  </a:srgbClr>
                </a:solidFill>
                <a:latin typeface="Inter"/>
                <a:ea typeface="Inter"/>
                <a:cs typeface="Inter"/>
              </a:rPr>
              <a:t>зимняя сказка · интерактивный формат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3255263"/>
            <a:ext cx="3913632" cy="932688"/>
          </a:xfrm>
          <a:prstGeom prst="roundRect">
            <a:avLst>
              <a:gd name="adj" fmla="val 10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2360" y="3493007"/>
            <a:ext cx="12801" cy="457200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8392" y="3255263"/>
            <a:ext cx="457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spc="10000">
                <a:solidFill>
                  <a:srgbClr val="D4AF37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474720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Светский гала-ужин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3785615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00">
                <a:solidFill>
                  <a:srgbClr val="A0AEC0">
                    <a:alpha val="85000"/>
                  </a:srgbClr>
                </a:solidFill>
                <a:latin typeface="Inter"/>
                <a:ea typeface="Inter"/>
                <a:cs typeface="Inter"/>
              </a:rPr>
              <a:t>бальный вечер в духе Met Gala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352544"/>
            <a:ext cx="3913632" cy="932688"/>
          </a:xfrm>
          <a:prstGeom prst="roundRect">
            <a:avLst>
              <a:gd name="adj" fmla="val 10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52360" y="4590288"/>
            <a:ext cx="12801" cy="457200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08392" y="4352544"/>
            <a:ext cx="457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spc="10000">
                <a:solidFill>
                  <a:srgbClr val="D4AF37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572000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Индивидуальный кастом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88289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00">
                <a:solidFill>
                  <a:srgbClr val="A0AEC0">
                    <a:alpha val="85000"/>
                  </a:srgbClr>
                </a:solidFill>
                <a:latin typeface="Inter"/>
                <a:ea typeface="Inter"/>
                <a:cs typeface="Inter"/>
              </a:rPr>
              <a:t>полностью авторский сценарий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5504688"/>
            <a:ext cx="3913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20000">
                <a:solidFill>
                  <a:srgbClr val="D4AF37">
                    <a:alpha val="75000"/>
                  </a:srgbClr>
                </a:solidFill>
                <a:latin typeface="Montserrat"/>
                <a:ea typeface="Montserrat"/>
                <a:cs typeface="Montserrat"/>
              </a:rPr>
              <a:t>ПРЕЗЕНТАЦИЯ ТРЁХ ВАРИАНТОВ — ВХОДИТ В ПРЕДЗАКАЗ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  <a:ea typeface="Montserrat"/>
                <a:cs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05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  <a:ea typeface="Inter"/>
                <a:cs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ПРЕИМУЩЕСТВО 04 · БЕЗОПАСНЫЙ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Предоплата всего 30% от суммы мероприятия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  <a:ea typeface="Inter"/>
                <a:cs typeface="Inter"/>
              </a:rPr>
              <a:t>Зафиксируйте за собой безупречный праздник всего за треть стоимости и спокойно готовьтесь к финалу года. Вы бронируете лучших подрядчиков и артистов прямо сейчас, не замораживая оборотные средства компании.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810512"/>
            <a:ext cx="3913632" cy="3749039"/>
          </a:xfrm>
          <a:prstGeom prst="roundRect">
            <a:avLst>
              <a:gd name="adj" fmla="val 45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3364992" cy="12801"/>
          </a:xfrm>
          <a:prstGeom prst="rect">
            <a:avLst/>
          </a:prstGeom>
          <a:solidFill>
            <a:srgbClr val="D4AF3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2139696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30000">
                <a:solidFill>
                  <a:srgbClr val="A0AEC0">
                    <a:alpha val="80000"/>
                  </a:srgbClr>
                </a:solidFill>
                <a:latin typeface="Montserrat"/>
                <a:ea typeface="Montserrat"/>
                <a:cs typeface="Montserrat"/>
              </a:rPr>
              <a:t>СТРУКТУРА ФИКСАЦИИ БРОНИ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2432304"/>
            <a:ext cx="1645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5400" b="1" spc="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432304"/>
            <a:ext cx="1737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spc="0">
                <a:solidFill>
                  <a:srgbClr val="A0AEC0">
                    <a:alpha val="90000"/>
                  </a:srgbClr>
                </a:solidFill>
                <a:latin typeface="Inter"/>
                <a:ea typeface="Inter"/>
                <a:cs typeface="Inter"/>
              </a:rPr>
              <a:t>достаточно, чтобы дата и площадка стали вашими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44968" y="3968496"/>
            <a:ext cx="3328416" cy="128016"/>
          </a:xfrm>
          <a:prstGeom prst="roundRect">
            <a:avLst>
              <a:gd name="adj" fmla="val 50000"/>
            </a:avLst>
          </a:prstGeom>
          <a:solidFill>
            <a:srgbClr val="FFFF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44968" y="3968496"/>
            <a:ext cx="996696" cy="12801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7092" y="3877056"/>
            <a:ext cx="10058" cy="310896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4968" y="424281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0">
                <a:solidFill>
                  <a:srgbClr val="A0AEC0">
                    <a:alpha val="70000"/>
                  </a:srgbClr>
                </a:solidFill>
                <a:latin typeface="Inter"/>
                <a:ea typeface="Inter"/>
                <a:cs typeface="Inter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242816"/>
            <a:ext cx="502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spc="0">
                <a:solidFill>
                  <a:srgbClr val="D4AF37"/>
                </a:solidFill>
                <a:latin typeface="Montserrat"/>
                <a:ea typeface="Montserrat"/>
                <a:cs typeface="Montserrat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4242816"/>
            <a:ext cx="32918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0">
                <a:solidFill>
                  <a:srgbClr val="A0AEC0">
                    <a:alpha val="70000"/>
                  </a:srgbClr>
                </a:solidFill>
                <a:latin typeface="Inter"/>
                <a:ea typeface="Inter"/>
                <a:cs typeface="Inter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8" y="4608576"/>
            <a:ext cx="332841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spc="0">
                <a:solidFill>
                  <a:srgbClr val="A0AEC0">
                    <a:alpha val="90000"/>
                  </a:srgbClr>
                </a:solidFill>
                <a:latin typeface="Inter"/>
                <a:ea typeface="Inter"/>
                <a:cs typeface="Inter"/>
              </a:rPr>
              <a:t>Остальные 70% — по комфортному графику после утверждения концепции и подрядчиков.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44968" y="5120640"/>
            <a:ext cx="3328416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44968" y="5120640"/>
            <a:ext cx="33284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spc="1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БЕЗ ЗАМОРОЗКИ ОБОРОТНЫХ СРЕДСТВ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  <a:ea typeface="Montserrat"/>
                <a:cs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06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  <a:ea typeface="Inter"/>
                <a:cs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ПРЕИМУЩЕСТВО 05 · КОМФОРТ ДЛЯ БУХГАЛТЕРИИ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Удобный график платежей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  <a:ea typeface="Inter"/>
                <a:cs typeface="Inter"/>
              </a:rPr>
              <a:t>Никаких кассовых разрывов перед закрытием финансового года: мы составим комфортный календарь траншей, синхронизированный с вашей бухгалтерией. Вы закрываете бюджет поэтапно, прозрачно и без предновогоднего стресса.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810512"/>
            <a:ext cx="3913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1" spc="20000">
                <a:solidFill>
                  <a:srgbClr val="A0AEC0">
                    <a:alpha val="80000"/>
                  </a:srgbClr>
                </a:solidFill>
                <a:latin typeface="Montserrat"/>
                <a:ea typeface="Montserrat"/>
                <a:cs typeface="Montserrat"/>
              </a:rPr>
              <a:t>КАЛЕНДАРЬ ТРАНШЕЙ · СОГЛАСУЕМ С ВАШЕЙ БУХГАЛЕРИЕЙ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3675887"/>
            <a:ext cx="3364992" cy="1005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35823" y="3552444"/>
            <a:ext cx="256032" cy="256032"/>
          </a:xfrm>
          <a:prstGeom prst="ellipse">
            <a:avLst/>
          </a:prstGeom>
          <a:noFill/>
          <a:ln w="9525">
            <a:solidFill>
              <a:srgbClr val="FFFF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04404" y="3621024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0175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950208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spc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Транш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2592" y="4279392"/>
            <a:ext cx="1682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0">
                <a:solidFill>
                  <a:srgbClr val="A0AEC0">
                    <a:alpha val="85000"/>
                  </a:srgbClr>
                </a:solidFill>
                <a:latin typeface="Inter"/>
                <a:ea typeface="Inter"/>
                <a:cs typeface="Inter"/>
              </a:rPr>
              <a:t>фиксируем дату и площадку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495604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spc="35000">
                <a:solidFill>
                  <a:srgbClr val="D4AF37">
                    <a:alpha val="80000"/>
                  </a:srgbClr>
                </a:solidFill>
                <a:latin typeface="Montserrat"/>
                <a:ea typeface="Montserrat"/>
                <a:cs typeface="Montserrat"/>
              </a:rPr>
              <a:t>СЕГОДНЯ</a:t>
            </a:r>
          </a:p>
        </p:txBody>
      </p:sp>
      <p:sp>
        <p:nvSpPr>
          <p:cNvPr id="22" name="Oval 21"/>
          <p:cNvSpPr/>
          <p:nvPr/>
        </p:nvSpPr>
        <p:spPr>
          <a:xfrm>
            <a:off x="9281159" y="3552444"/>
            <a:ext cx="256032" cy="256032"/>
          </a:xfrm>
          <a:prstGeom prst="ellipse">
            <a:avLst/>
          </a:prstGeom>
          <a:noFill/>
          <a:ln w="9525">
            <a:solidFill>
              <a:srgbClr val="FFFF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49740" y="3621024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30175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950208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spc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Транш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7928" y="4279392"/>
            <a:ext cx="1682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0">
                <a:solidFill>
                  <a:srgbClr val="A0AEC0">
                    <a:alpha val="85000"/>
                  </a:srgbClr>
                </a:solidFill>
                <a:latin typeface="Inter"/>
                <a:ea typeface="Inter"/>
                <a:cs typeface="Inter"/>
              </a:rPr>
              <a:t>сценарий и подрядчики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95604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spc="35000">
                <a:solidFill>
                  <a:srgbClr val="D4AF37">
                    <a:alpha val="80000"/>
                  </a:srgbClr>
                </a:solidFill>
                <a:latin typeface="Montserrat"/>
                <a:ea typeface="Montserrat"/>
                <a:cs typeface="Montserrat"/>
              </a:rPr>
              <a:t>НОЯБРЬ</a:t>
            </a:r>
          </a:p>
        </p:txBody>
      </p:sp>
      <p:sp>
        <p:nvSpPr>
          <p:cNvPr id="28" name="Oval 27"/>
          <p:cNvSpPr/>
          <p:nvPr/>
        </p:nvSpPr>
        <p:spPr>
          <a:xfrm>
            <a:off x="10826496" y="3552444"/>
            <a:ext cx="256032" cy="256032"/>
          </a:xfrm>
          <a:prstGeom prst="ellipse">
            <a:avLst/>
          </a:prstGeom>
          <a:noFill/>
          <a:ln w="9525">
            <a:solidFill>
              <a:srgbClr val="FFFF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95076" y="3621024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68712" y="30175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77272" y="3950208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spc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Финал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13264" y="4279392"/>
            <a:ext cx="1682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0">
                <a:solidFill>
                  <a:srgbClr val="A0AEC0">
                    <a:alpha val="85000"/>
                  </a:srgbClr>
                </a:solidFill>
                <a:latin typeface="Inter"/>
                <a:ea typeface="Inter"/>
                <a:cs typeface="Inter"/>
              </a:rPr>
              <a:t>полная готовность события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77272" y="495604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spc="35000">
                <a:solidFill>
                  <a:srgbClr val="D4AF37">
                    <a:alpha val="80000"/>
                  </a:srgbClr>
                </a:solidFill>
                <a:latin typeface="Montserrat"/>
                <a:ea typeface="Montserrat"/>
                <a:cs typeface="Montserrat"/>
              </a:rPr>
              <a:t>ДЕКАБРЬ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5844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35844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  <a:ea typeface="Montserrat"/>
                <a:cs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07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  <a:ea typeface="Inter"/>
                <a:cs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  <a:ea typeface="Montserrat"/>
                <a:cs typeface="Montserrat"/>
              </a:rPr>
              <a:t>06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ПРЕИМУЩЕСТВО 06 · ПОДАРОК № 1 — ТИМБИЛДИНГ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Предварительное онлайн-командообразующее мероприятие в подарок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  <a:ea typeface="Inter"/>
                <a:cs typeface="Inter"/>
              </a:rPr>
              <a:t>Дарим интерактивный онлайн-квиз или предновогодний стрим, который снимет напряжение от декабрьских дедлайнов и объединит даже удаленщиков. Это идеальный разогрев, который подарит команде праздничное настроение задолго до первого звона бокалов.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810512"/>
            <a:ext cx="3913632" cy="3749039"/>
          </a:xfrm>
          <a:prstGeom prst="roundRect">
            <a:avLst>
              <a:gd name="adj" fmla="val 4500"/>
            </a:avLst>
          </a:prstGeom>
          <a:solidFill>
            <a:srgbClr val="D4AF37">
              <a:alpha val="4000"/>
            </a:srgbClr>
          </a:solidFill>
          <a:ln w="1270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3364992" cy="12801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2212848"/>
            <a:ext cx="3328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50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SPECIAL GIFT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2596896"/>
            <a:ext cx="332841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400" b="1" spc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 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8" y="3877056"/>
            <a:ext cx="332841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spc="0">
                <a:solidFill>
                  <a:srgbClr val="A0AEC0">
                    <a:alpha val="90000"/>
                  </a:srgbClr>
                </a:solidFill>
                <a:latin typeface="Inter"/>
                <a:ea typeface="Inter"/>
                <a:cs typeface="Inter"/>
              </a:rPr>
              <a:t>Онлайн-квиз или предновогодний стрим — в подарок каждой команде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4968" y="4718304"/>
            <a:ext cx="3328416" cy="10058"/>
          </a:xfrm>
          <a:prstGeom prst="rect">
            <a:avLst/>
          </a:prstGeom>
          <a:solidFill>
            <a:srgbClr val="D4AF3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8" y="4901184"/>
            <a:ext cx="3328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1" spc="25000">
                <a:solidFill>
                  <a:srgbClr val="A0AEC0">
                    <a:alpha val="75000"/>
                  </a:srgbClr>
                </a:solidFill>
                <a:latin typeface="Montserrat"/>
                <a:ea typeface="Montserrat"/>
                <a:cs typeface="Montserrat"/>
              </a:rPr>
              <a:t>ИДЕАЛЬНЫЙ РАЗОГРЕВ · ДАЖЕ ДЛЯ УДАЛЁННЫХ КОМАНД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  <a:ea typeface="Montserrat"/>
                <a:cs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  <a:ea typeface="Inter"/>
                <a:cs typeface="Inter"/>
              </a:rPr>
              <a:t>08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  <a:ea typeface="Inter"/>
                <a:cs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  <a:ea typeface="Montserrat"/>
                <a:cs typeface="Montserrat"/>
              </a:rPr>
              <a:t>07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ПРЕИМУЩЕСТВО 07 · ПОДАРОК № 2 — ФИНАЛ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Авторский шоу-торт с логотипом компании в подарок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  <a:ea typeface="Inter"/>
                <a:cs typeface="Inter"/>
              </a:rPr>
              <a:t>Эффектная сладкая кульминация под бой курантов — за наш счет: создадим эксклюзивный торт с корпоративной символикой от звездного шеф-кондитера. Это не просто роскошный десерт за успехи года, а главный герой праздничных сторис ваших сотрудников!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810512"/>
            <a:ext cx="3913632" cy="2651760"/>
          </a:xfrm>
          <a:prstGeom prst="roundRect">
            <a:avLst>
              <a:gd name="adj" fmla="val 4500"/>
            </a:avLst>
          </a:prstGeom>
          <a:solidFill>
            <a:srgbClr val="D4AF37">
              <a:alpha val="4000"/>
            </a:srgbClr>
          </a:solidFill>
          <a:ln w="1270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3364992" cy="12801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2103120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40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FINALE · 0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2359152"/>
            <a:ext cx="332841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spc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 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8" y="3291840"/>
            <a:ext cx="332841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spc="0">
                <a:solidFill>
                  <a:srgbClr val="A0AEC0">
                    <a:alpha val="90000"/>
                  </a:srgbClr>
                </a:solidFill>
                <a:latin typeface="Inter"/>
                <a:ea typeface="Inter"/>
                <a:cs typeface="Inter"/>
              </a:rPr>
              <a:t>Авторский шоу-торт от звездного шеф-кондитера — с логотипом компании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4968" y="3931920"/>
            <a:ext cx="3328416" cy="10058"/>
          </a:xfrm>
          <a:prstGeom prst="rect">
            <a:avLst/>
          </a:prstGeom>
          <a:solidFill>
            <a:srgbClr val="D4AF3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8" y="4041648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5000">
                <a:solidFill>
                  <a:srgbClr val="A0AEC0">
                    <a:alpha val="70000"/>
                  </a:srgbClr>
                </a:solidFill>
                <a:latin typeface="Montserrat"/>
                <a:ea typeface="Montserrat"/>
                <a:cs typeface="Montserrat"/>
              </a:rPr>
              <a:t>ГЛАВНЫЙ ГЕРОЙ ПРАЗДНИЧНЫХ СТОРИС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56048"/>
            <a:ext cx="10543032" cy="1170432"/>
          </a:xfrm>
          <a:prstGeom prst="roundRect">
            <a:avLst>
              <a:gd name="adj" fmla="val 9000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143000" y="55001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4956048"/>
            <a:ext cx="50292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spc="6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ЗАБРОНИРУЙТЕ ВСТРЕЧУ И ПРЕЗЕНТАЦИЮ ТРЁХ КОНЦЕПЦИЙ</a:t>
            </a:r>
          </a:p>
          <a:p>
            <a:pPr algn="l">
              <a:spcBef>
                <a:spcPts val="400"/>
              </a:spcBef>
            </a:pPr>
            <a:r>
              <a:rPr sz="950" b="1" spc="30000">
                <a:solidFill>
                  <a:srgbClr val="E5C378"/>
                </a:solidFill>
                <a:latin typeface="Montserrat"/>
                <a:ea typeface="Montserrat"/>
                <a:cs typeface="Montserrat"/>
              </a:rPr>
              <a:t>УЖЕ НА ЭТОЙ НЕДЕЛЕ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5230368"/>
            <a:ext cx="10058" cy="621792"/>
          </a:xfrm>
          <a:prstGeom prst="rect">
            <a:avLst/>
          </a:prstGeom>
          <a:solidFill>
            <a:srgbClr val="D4AF3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956048"/>
            <a:ext cx="443484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spc="12000">
                <a:solidFill>
                  <a:srgbClr val="A0AEC0">
                    <a:alpha val="95000"/>
                  </a:srgbClr>
                </a:solidFill>
                <a:latin typeface="Inter"/>
                <a:ea typeface="Inter"/>
                <a:cs typeface="Inter"/>
              </a:rPr>
              <a:t>ТЕЛЕФОН · +7 900 000-00-00</a:t>
            </a:r>
          </a:p>
          <a:p>
            <a:pPr algn="r">
              <a:lnSpc>
                <a:spcPct val="155000"/>
              </a:lnSpc>
            </a:pPr>
            <a:r>
              <a:rPr sz="900" b="0" spc="12000">
                <a:solidFill>
                  <a:srgbClr val="A0AEC0">
                    <a:alpha val="95000"/>
                  </a:srgbClr>
                </a:solidFill>
                <a:latin typeface="Inter"/>
                <a:ea typeface="Inter"/>
                <a:cs typeface="Inter"/>
              </a:rPr>
              <a:t>ПОЧТА · HELLO@AGENCY.RU</a:t>
            </a:r>
          </a:p>
          <a:p>
            <a:pPr algn="r">
              <a:lnSpc>
                <a:spcPct val="155000"/>
              </a:lnSpc>
            </a:pPr>
            <a:r>
              <a:rPr sz="900" b="0" spc="12000">
                <a:solidFill>
                  <a:srgbClr val="A0AEC0">
                    <a:alpha val="95000"/>
                  </a:srgbClr>
                </a:solidFill>
                <a:latin typeface="Inter"/>
                <a:ea typeface="Inter"/>
                <a:cs typeface="Inter"/>
              </a:rPr>
              <a:t>TELEGRAM · @AGENCY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Предварительный заказ новогоднего корпоратива</dc:title>
  <dc:subject>Ключевые преимущества предзаказа · Сезон 2024–2025</dc:subject>
  <dc:creator>Event Agency · Moscow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